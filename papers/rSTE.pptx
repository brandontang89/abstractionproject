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5"/>
  </p:notesMasterIdLst>
  <p:sldIdLst>
    <p:sldId id="256" r:id="rId2"/>
    <p:sldId id="258" r:id="rId3"/>
    <p:sldId id="270" r:id="rId4"/>
    <p:sldId id="281" r:id="rId5"/>
    <p:sldId id="280" r:id="rId6"/>
    <p:sldId id="278" r:id="rId7"/>
    <p:sldId id="286" r:id="rId8"/>
    <p:sldId id="259" r:id="rId9"/>
    <p:sldId id="285" r:id="rId10"/>
    <p:sldId id="271" r:id="rId11"/>
    <p:sldId id="272" r:id="rId12"/>
    <p:sldId id="273" r:id="rId13"/>
    <p:sldId id="287" r:id="rId14"/>
    <p:sldId id="263" r:id="rId15"/>
    <p:sldId id="276" r:id="rId16"/>
    <p:sldId id="288" r:id="rId17"/>
    <p:sldId id="282" r:id="rId18"/>
    <p:sldId id="265" r:id="rId19"/>
    <p:sldId id="267" r:id="rId20"/>
    <p:sldId id="277" r:id="rId21"/>
    <p:sldId id="268" r:id="rId22"/>
    <p:sldId id="289" r:id="rId23"/>
    <p:sldId id="283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504D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446" autoAdjust="0"/>
  </p:normalViewPr>
  <p:slideViewPr>
    <p:cSldViewPr>
      <p:cViewPr varScale="1">
        <p:scale>
          <a:sx n="75" d="100"/>
          <a:sy n="75" d="100"/>
        </p:scale>
        <p:origin x="-182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0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C28EC-236C-4F0E-901B-BEF36C375A67}" type="datetimeFigureOut">
              <a:rPr lang="en-US" smtClean="0"/>
              <a:t>10/22/2013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08C2E7-75EB-46B1-ADAB-3503B6585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99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08C2E7-75EB-46B1-ADAB-3503B65850D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704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08C2E7-75EB-46B1-ADAB-3503B65850D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264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08C2E7-75EB-46B1-ADAB-3503B65850D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072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08C2E7-75EB-46B1-ADAB-3503B65850D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954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08C2E7-75EB-46B1-ADAB-3503B65850D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77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08C2E7-75EB-46B1-ADAB-3503B65850D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525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71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0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9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387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529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59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995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345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756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295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408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200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Relational STE and Theorem Proving for Formal Verification of Industrial Circuit Designs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John O’Leary and Roope Kaivola, Intel</a:t>
            </a:r>
          </a:p>
          <a:p>
            <a:r>
              <a:rPr lang="en-US" dirty="0" smtClean="0"/>
              <a:t>Tom Melham, Oxford</a:t>
            </a:r>
          </a:p>
        </p:txBody>
      </p:sp>
    </p:spTree>
    <p:extLst>
      <p:ext uri="{BB962C8B-B14F-4D97-AF65-F5344CB8AC3E}">
        <p14:creationId xmlns:p14="http://schemas.microsoft.com/office/powerpoint/2010/main" val="4024175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CPU </a:t>
            </a:r>
            <a:r>
              <a:rPr lang="en-US" dirty="0" err="1" smtClean="0"/>
              <a:t>datapath</a:t>
            </a:r>
            <a:r>
              <a:rPr lang="en-US" dirty="0" smtClean="0"/>
              <a:t> verification at Intel</a:t>
            </a:r>
            <a:endParaRPr 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987674"/>
            <a:ext cx="2536862" cy="1751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457200" y="1600200"/>
            <a:ext cx="5638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Thousands of operations</a:t>
            </a:r>
          </a:p>
          <a:p>
            <a:pPr lvl="1"/>
            <a:r>
              <a:rPr lang="en-US" dirty="0" smtClean="0"/>
              <a:t>Integer, FP, SSE, AVX, …</a:t>
            </a:r>
          </a:p>
          <a:p>
            <a:pPr lvl="1"/>
            <a:r>
              <a:rPr lang="en-US" dirty="0" smtClean="0"/>
              <a:t>“Miscellaneous”</a:t>
            </a:r>
          </a:p>
          <a:p>
            <a:pPr lvl="1"/>
            <a:r>
              <a:rPr lang="en-US" dirty="0" smtClean="0"/>
              <a:t>Various operating modes, flags, faults</a:t>
            </a:r>
          </a:p>
          <a:p>
            <a:r>
              <a:rPr lang="en-US" dirty="0" smtClean="0"/>
              <a:t>Live RTL, changing frequently until a few weeks before </a:t>
            </a:r>
            <a:r>
              <a:rPr lang="en-US" dirty="0" err="1" smtClean="0"/>
              <a:t>tapeout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838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Scaling up</a:t>
            </a:r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57200" y="2209800"/>
            <a:ext cx="5638800" cy="3200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Tens of designs</a:t>
            </a:r>
          </a:p>
          <a:p>
            <a:r>
              <a:rPr lang="en-US" dirty="0" smtClean="0"/>
              <a:t>Different optimization points</a:t>
            </a:r>
          </a:p>
          <a:p>
            <a:r>
              <a:rPr lang="en-US" dirty="0" smtClean="0"/>
              <a:t>Different teams</a:t>
            </a:r>
          </a:p>
          <a:p>
            <a:r>
              <a:rPr lang="en-US" dirty="0" smtClean="0"/>
              <a:t>Different countries</a:t>
            </a:r>
          </a:p>
          <a:p>
            <a:r>
              <a:rPr lang="en-US" dirty="0" smtClean="0"/>
              <a:t>Not only CPUs</a:t>
            </a:r>
          </a:p>
          <a:p>
            <a:r>
              <a:rPr lang="en-US" dirty="0" smtClean="0"/>
              <a:t>Not all have FV experts on staff</a:t>
            </a:r>
          </a:p>
          <a:p>
            <a:endParaRPr lang="en-US" dirty="0" smtClean="0"/>
          </a:p>
        </p:txBody>
      </p:sp>
      <p:pic>
        <p:nvPicPr>
          <p:cNvPr id="16" name="Picture 15" descr="\\Malta\tfm\Images\PENTIUM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5674" y="2271712"/>
            <a:ext cx="1179674" cy="1100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Intel Pinetrail Atom (die)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096000" y="3179988"/>
            <a:ext cx="434566" cy="31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dual core die intel atom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19312"/>
            <a:ext cx="807230" cy="855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659186"/>
            <a:ext cx="2536862" cy="1751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7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Integer multiplier</a:t>
            </a:r>
            <a:endParaRPr lang="en-US" dirty="0"/>
          </a:p>
        </p:txBody>
      </p:sp>
      <p:sp>
        <p:nvSpPr>
          <p:cNvPr id="24" name="Right Brace 23"/>
          <p:cNvSpPr/>
          <p:nvPr/>
        </p:nvSpPr>
        <p:spPr>
          <a:xfrm>
            <a:off x="6172200" y="3224595"/>
            <a:ext cx="228600" cy="10668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Left Brace 26"/>
          <p:cNvSpPr/>
          <p:nvPr/>
        </p:nvSpPr>
        <p:spPr>
          <a:xfrm>
            <a:off x="2700982" y="2365764"/>
            <a:ext cx="262236" cy="86091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652147" y="2548972"/>
            <a:ext cx="1975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</a:rPr>
              <a:t>S1 =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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</a:rPr>
              <a:t>BE</a:t>
            </a:r>
            <a:r>
              <a:rPr lang="en-US" sz="2400" baseline="-25000" dirty="0" err="1">
                <a:solidFill>
                  <a:srgbClr val="C00000"/>
                </a:solidFill>
              </a:rPr>
              <a:t>i</a:t>
            </a:r>
            <a:r>
              <a:rPr lang="en-US" sz="2400" dirty="0" smtClean="0">
                <a:solidFill>
                  <a:srgbClr val="C00000"/>
                </a:solidFill>
              </a:rPr>
              <a:t> * 2</a:t>
            </a:r>
            <a:r>
              <a:rPr lang="en-US" sz="2400" baseline="30000" dirty="0" smtClean="0">
                <a:solidFill>
                  <a:srgbClr val="C00000"/>
                </a:solidFill>
              </a:rPr>
              <a:t>ki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00800" y="3527162"/>
            <a:ext cx="1792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solidFill>
                  <a:srgbClr val="C00000"/>
                </a:solidFill>
              </a:rPr>
              <a:t>PP</a:t>
            </a:r>
            <a:r>
              <a:rPr lang="en-US" sz="2400" baseline="-25000" dirty="0" err="1">
                <a:solidFill>
                  <a:srgbClr val="C00000"/>
                </a:solidFill>
              </a:rPr>
              <a:t>i</a:t>
            </a:r>
            <a:r>
              <a:rPr lang="en-US" sz="2400" dirty="0" smtClean="0">
                <a:solidFill>
                  <a:srgbClr val="C00000"/>
                </a:solidFill>
              </a:rPr>
              <a:t> = S2 * </a:t>
            </a:r>
            <a:r>
              <a:rPr lang="en-US" sz="2400" dirty="0" err="1" smtClean="0">
                <a:solidFill>
                  <a:srgbClr val="C00000"/>
                </a:solidFill>
              </a:rPr>
              <a:t>BE</a:t>
            </a:r>
            <a:r>
              <a:rPr lang="en-US" sz="2400" baseline="-25000" dirty="0" err="1" smtClean="0">
                <a:solidFill>
                  <a:srgbClr val="C00000"/>
                </a:solidFill>
              </a:rPr>
              <a:t>i</a:t>
            </a:r>
            <a:endParaRPr lang="en-US" sz="2400" baseline="-25000" dirty="0" smtClean="0">
              <a:solidFill>
                <a:srgbClr val="C0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20138" y="4626316"/>
            <a:ext cx="1837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  <a:sym typeface="Symbol"/>
              </a:rPr>
              <a:t>P = 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</a:rPr>
              <a:t>PP</a:t>
            </a:r>
            <a:r>
              <a:rPr lang="en-US" sz="2400" baseline="-25000" dirty="0" err="1" smtClean="0">
                <a:solidFill>
                  <a:srgbClr val="C00000"/>
                </a:solidFill>
              </a:rPr>
              <a:t>i</a:t>
            </a:r>
            <a:r>
              <a:rPr lang="en-US" sz="2400" dirty="0" smtClean="0">
                <a:solidFill>
                  <a:srgbClr val="C00000"/>
                </a:solidFill>
              </a:rPr>
              <a:t> * 2</a:t>
            </a:r>
            <a:r>
              <a:rPr lang="en-US" sz="2400" baseline="30000" dirty="0" smtClean="0">
                <a:solidFill>
                  <a:srgbClr val="C00000"/>
                </a:solidFill>
              </a:rPr>
              <a:t>ki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36" name="Right Brace 35"/>
          <p:cNvSpPr/>
          <p:nvPr/>
        </p:nvSpPr>
        <p:spPr>
          <a:xfrm flipH="1">
            <a:off x="2832100" y="4291395"/>
            <a:ext cx="304800" cy="1143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Date Placeholder 4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870AF-A638-4614-8C5E-87C677D11E84}" type="datetime1">
              <a:rPr lang="en-US" smtClean="0"/>
              <a:t>10/22/2013</a:t>
            </a:fld>
            <a:endParaRPr lang="en-US" dirty="0"/>
          </a:p>
        </p:txBody>
      </p:sp>
      <p:sp>
        <p:nvSpPr>
          <p:cNvPr id="46" name="Slide Number Placeholder 45"/>
          <p:cNvSpPr>
            <a:spLocks noGrp="1"/>
          </p:cNvSpPr>
          <p:nvPr>
            <p:ph type="sldNum" sz="quarter" idx="12"/>
          </p:nvPr>
        </p:nvSpPr>
        <p:spPr>
          <a:xfrm>
            <a:off x="8572697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41" name="Group 40"/>
          <p:cNvGrpSpPr>
            <a:grpSpLocks noChangeAspect="1"/>
          </p:cNvGrpSpPr>
          <p:nvPr/>
        </p:nvGrpSpPr>
        <p:grpSpPr>
          <a:xfrm>
            <a:off x="2971800" y="1763619"/>
            <a:ext cx="2969853" cy="4056654"/>
            <a:chOff x="634263" y="838200"/>
            <a:chExt cx="5132274" cy="7010400"/>
          </a:xfrm>
        </p:grpSpPr>
        <p:sp>
          <p:nvSpPr>
            <p:cNvPr id="42" name="Rectangle 6"/>
            <p:cNvSpPr>
              <a:spLocks noChangeArrowheads="1"/>
            </p:cNvSpPr>
            <p:nvPr/>
          </p:nvSpPr>
          <p:spPr bwMode="auto">
            <a:xfrm>
              <a:off x="1536393" y="2169836"/>
              <a:ext cx="1942488" cy="78412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</a:pPr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43" name="Rectangle 7"/>
            <p:cNvSpPr>
              <a:spLocks noChangeArrowheads="1"/>
            </p:cNvSpPr>
            <p:nvPr/>
          </p:nvSpPr>
          <p:spPr bwMode="auto">
            <a:xfrm>
              <a:off x="1516139" y="3765657"/>
              <a:ext cx="4046462" cy="78560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</a:pPr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48" name="Rectangle 8"/>
            <p:cNvSpPr>
              <a:spLocks noChangeArrowheads="1"/>
            </p:cNvSpPr>
            <p:nvPr/>
          </p:nvSpPr>
          <p:spPr bwMode="auto">
            <a:xfrm>
              <a:off x="1635718" y="5307480"/>
              <a:ext cx="3794750" cy="128356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</a:pPr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1" name="Line 16"/>
            <p:cNvSpPr>
              <a:spLocks noChangeShapeType="1"/>
            </p:cNvSpPr>
            <p:nvPr/>
          </p:nvSpPr>
          <p:spPr bwMode="auto">
            <a:xfrm>
              <a:off x="3470834" y="6591046"/>
              <a:ext cx="0" cy="7392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2" name="Line 26"/>
            <p:cNvSpPr>
              <a:spLocks noChangeShapeType="1"/>
            </p:cNvSpPr>
            <p:nvPr/>
          </p:nvSpPr>
          <p:spPr bwMode="auto">
            <a:xfrm>
              <a:off x="3493646" y="4537342"/>
              <a:ext cx="0" cy="7701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3" name="Line 28"/>
            <p:cNvSpPr>
              <a:spLocks noChangeShapeType="1"/>
            </p:cNvSpPr>
            <p:nvPr/>
          </p:nvSpPr>
          <p:spPr bwMode="auto">
            <a:xfrm>
              <a:off x="2514600" y="4537342"/>
              <a:ext cx="0" cy="7701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4" name="Text Box 30"/>
            <p:cNvSpPr txBox="1">
              <a:spLocks noChangeArrowheads="1"/>
            </p:cNvSpPr>
            <p:nvPr/>
          </p:nvSpPr>
          <p:spPr bwMode="auto">
            <a:xfrm>
              <a:off x="1776496" y="3791946"/>
              <a:ext cx="3449773" cy="7330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 anchor="ctr"/>
            <a:lstStyle/>
            <a:p>
              <a:pPr algn="ctr" eaLnBrk="1" hangingPunct="1"/>
              <a:r>
                <a:rPr lang="en-US" sz="1400" dirty="0">
                  <a:latin typeface="Courier New" pitchFamily="49" charset="0"/>
                  <a:cs typeface="Courier New" pitchFamily="49" charset="0"/>
                </a:rPr>
                <a:t>Partial </a:t>
              </a:r>
              <a:r>
                <a:rPr lang="en-US" sz="1400" dirty="0" smtClean="0">
                  <a:latin typeface="Courier New" pitchFamily="49" charset="0"/>
                  <a:cs typeface="Courier New" pitchFamily="49" charset="0"/>
                </a:rPr>
                <a:t>Products Generation</a:t>
              </a:r>
              <a:endParaRPr lang="en-US" sz="14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5" name="Text Box 31"/>
            <p:cNvSpPr txBox="1">
              <a:spLocks noChangeArrowheads="1"/>
            </p:cNvSpPr>
            <p:nvPr/>
          </p:nvSpPr>
          <p:spPr bwMode="auto">
            <a:xfrm>
              <a:off x="1419634" y="2195388"/>
              <a:ext cx="2165395" cy="7330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 anchor="ctr"/>
            <a:lstStyle/>
            <a:p>
              <a:pPr algn="ctr" eaLnBrk="1" hangingPunct="1"/>
              <a:r>
                <a:rPr lang="en-US" sz="1400" dirty="0" smtClean="0">
                  <a:latin typeface="Courier New" pitchFamily="49" charset="0"/>
                  <a:cs typeface="Courier New" pitchFamily="49" charset="0"/>
                </a:rPr>
                <a:t>Booth </a:t>
              </a:r>
            </a:p>
            <a:p>
              <a:pPr algn="ctr" eaLnBrk="1" hangingPunct="1"/>
              <a:r>
                <a:rPr lang="en-US" sz="1400" dirty="0" smtClean="0">
                  <a:latin typeface="Courier New" pitchFamily="49" charset="0"/>
                  <a:cs typeface="Courier New" pitchFamily="49" charset="0"/>
                </a:rPr>
                <a:t>Encoder</a:t>
              </a:r>
              <a:endParaRPr lang="en-US" sz="44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6" name="Text Box 33"/>
            <p:cNvSpPr txBox="1">
              <a:spLocks noChangeArrowheads="1"/>
            </p:cNvSpPr>
            <p:nvPr/>
          </p:nvSpPr>
          <p:spPr bwMode="auto">
            <a:xfrm>
              <a:off x="1631731" y="5582750"/>
              <a:ext cx="3831902" cy="7330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 anchor="ctr"/>
            <a:lstStyle/>
            <a:p>
              <a:pPr algn="ctr" eaLnBrk="1" hangingPunct="1"/>
              <a:r>
                <a:rPr lang="en-US" sz="1400" dirty="0" smtClean="0">
                  <a:latin typeface="Courier New" pitchFamily="49" charset="0"/>
                  <a:cs typeface="Courier New" pitchFamily="49" charset="0"/>
                </a:rPr>
                <a:t>Wallace </a:t>
              </a:r>
              <a:r>
                <a:rPr lang="en-US" sz="1400" dirty="0">
                  <a:latin typeface="Courier New" pitchFamily="49" charset="0"/>
                  <a:cs typeface="Courier New" pitchFamily="49" charset="0"/>
                </a:rPr>
                <a:t>Tree </a:t>
              </a:r>
              <a:r>
                <a:rPr lang="en-US" sz="1400" dirty="0" smtClean="0">
                  <a:latin typeface="Courier New" pitchFamily="49" charset="0"/>
                  <a:cs typeface="Courier New" pitchFamily="49" charset="0"/>
                </a:rPr>
                <a:t>Adder </a:t>
              </a:r>
              <a:r>
                <a:rPr lang="en-US" sz="1400" dirty="0">
                  <a:latin typeface="Courier New" pitchFamily="49" charset="0"/>
                  <a:cs typeface="Courier New" pitchFamily="49" charset="0"/>
                </a:rPr>
                <a:t>Network</a:t>
              </a:r>
            </a:p>
          </p:txBody>
        </p:sp>
        <p:sp>
          <p:nvSpPr>
            <p:cNvPr id="57" name="Text Box 38"/>
            <p:cNvSpPr txBox="1">
              <a:spLocks noChangeArrowheads="1"/>
            </p:cNvSpPr>
            <p:nvPr/>
          </p:nvSpPr>
          <p:spPr bwMode="auto">
            <a:xfrm>
              <a:off x="2005863" y="838200"/>
              <a:ext cx="965937" cy="4237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/>
            <a:lstStyle/>
            <a:p>
              <a:pPr algn="ctr" eaLnBrk="1" hangingPunct="1"/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S1</a:t>
              </a:r>
              <a:endParaRPr lang="en-US" sz="1400" b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8" name="Text Box 39"/>
            <p:cNvSpPr txBox="1">
              <a:spLocks noChangeArrowheads="1"/>
            </p:cNvSpPr>
            <p:nvPr/>
          </p:nvSpPr>
          <p:spPr bwMode="auto">
            <a:xfrm>
              <a:off x="3962401" y="838200"/>
              <a:ext cx="1088004" cy="4237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/>
            <a:lstStyle/>
            <a:p>
              <a:pPr algn="ctr" eaLnBrk="1" hangingPunct="1"/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S2</a:t>
              </a:r>
              <a:endParaRPr lang="en-US" sz="1400" b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9" name="Line 28"/>
            <p:cNvSpPr>
              <a:spLocks noChangeShapeType="1"/>
            </p:cNvSpPr>
            <p:nvPr/>
          </p:nvSpPr>
          <p:spPr bwMode="auto">
            <a:xfrm>
              <a:off x="4495799" y="4528210"/>
              <a:ext cx="0" cy="7701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60" name="Text Box 39"/>
            <p:cNvSpPr txBox="1">
              <a:spLocks noChangeArrowheads="1"/>
            </p:cNvSpPr>
            <p:nvPr/>
          </p:nvSpPr>
          <p:spPr bwMode="auto">
            <a:xfrm>
              <a:off x="2921000" y="7424868"/>
              <a:ext cx="1088004" cy="4237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/>
            <a:lstStyle/>
            <a:p>
              <a:pPr algn="ctr" eaLnBrk="1" hangingPunct="1"/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PROD</a:t>
              </a:r>
              <a:endParaRPr lang="en-US" sz="1400" b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61" name="Line 14"/>
            <p:cNvSpPr>
              <a:spLocks noChangeShapeType="1"/>
            </p:cNvSpPr>
            <p:nvPr/>
          </p:nvSpPr>
          <p:spPr bwMode="auto">
            <a:xfrm>
              <a:off x="2514600" y="1371600"/>
              <a:ext cx="0" cy="7974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62" name="Line 14"/>
            <p:cNvSpPr>
              <a:spLocks noChangeShapeType="1"/>
            </p:cNvSpPr>
            <p:nvPr/>
          </p:nvSpPr>
          <p:spPr bwMode="auto">
            <a:xfrm>
              <a:off x="4482844" y="1381660"/>
              <a:ext cx="0" cy="23714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63" name="Line 14"/>
            <p:cNvSpPr>
              <a:spLocks noChangeShapeType="1"/>
            </p:cNvSpPr>
            <p:nvPr/>
          </p:nvSpPr>
          <p:spPr bwMode="auto">
            <a:xfrm>
              <a:off x="2514600" y="2971800"/>
              <a:ext cx="0" cy="7822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64" name="Line 14"/>
            <p:cNvSpPr>
              <a:spLocks noChangeShapeType="1"/>
            </p:cNvSpPr>
            <p:nvPr/>
          </p:nvSpPr>
          <p:spPr bwMode="auto">
            <a:xfrm>
              <a:off x="2895600" y="2971800"/>
              <a:ext cx="0" cy="7894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65" name="Line 14"/>
            <p:cNvSpPr>
              <a:spLocks noChangeShapeType="1"/>
            </p:cNvSpPr>
            <p:nvPr/>
          </p:nvSpPr>
          <p:spPr bwMode="auto">
            <a:xfrm>
              <a:off x="2133600" y="2971800"/>
              <a:ext cx="0" cy="7894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66" name="Text Box 38"/>
            <p:cNvSpPr txBox="1">
              <a:spLocks noChangeArrowheads="1"/>
            </p:cNvSpPr>
            <p:nvPr/>
          </p:nvSpPr>
          <p:spPr bwMode="auto">
            <a:xfrm>
              <a:off x="634263" y="3124200"/>
              <a:ext cx="1423138" cy="4237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/>
            <a:lstStyle/>
            <a:p>
              <a:pPr algn="ctr" eaLnBrk="1" hangingPunct="1"/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BE</a:t>
              </a:r>
              <a:r>
                <a:rPr lang="en-US" sz="1400" b="1" baseline="-25000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endParaRPr lang="en-US" sz="1400" b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67" name="Text Box 38"/>
            <p:cNvSpPr txBox="1">
              <a:spLocks noChangeArrowheads="1"/>
            </p:cNvSpPr>
            <p:nvPr/>
          </p:nvSpPr>
          <p:spPr bwMode="auto">
            <a:xfrm>
              <a:off x="4800600" y="4724400"/>
              <a:ext cx="965937" cy="423732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/>
            <a:lstStyle/>
            <a:p>
              <a:pPr algn="ctr" eaLnBrk="1" hangingPunct="1"/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PP</a:t>
              </a:r>
              <a:r>
                <a:rPr lang="en-US" sz="1400" b="1" baseline="-25000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endParaRPr lang="en-US" sz="1400" b="1" baseline="-25000" dirty="0">
                <a:latin typeface="Courier New" pitchFamily="49" charset="0"/>
                <a:cs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2073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multiplier zoo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4400" y="2514600"/>
            <a:ext cx="3962400" cy="2749623"/>
          </a:xfrm>
        </p:spPr>
        <p:txBody>
          <a:bodyPr/>
          <a:lstStyle/>
          <a:p>
            <a:r>
              <a:rPr lang="en-US" dirty="0" smtClean="0"/>
              <a:t>10-20 multipliers</a:t>
            </a:r>
          </a:p>
          <a:p>
            <a:r>
              <a:rPr lang="en-US" dirty="0" smtClean="0"/>
              <a:t>Hand designed</a:t>
            </a:r>
          </a:p>
          <a:p>
            <a:r>
              <a:rPr lang="en-US" dirty="0" smtClean="0"/>
              <a:t>Hand optimized</a:t>
            </a:r>
          </a:p>
          <a:p>
            <a:r>
              <a:rPr lang="en-US" dirty="0" smtClean="0"/>
              <a:t>All different</a:t>
            </a:r>
          </a:p>
        </p:txBody>
      </p:sp>
      <p:grpSp>
        <p:nvGrpSpPr>
          <p:cNvPr id="4" name="Group 3"/>
          <p:cNvGrpSpPr>
            <a:grpSpLocks noChangeAspect="1"/>
          </p:cNvGrpSpPr>
          <p:nvPr/>
        </p:nvGrpSpPr>
        <p:grpSpPr>
          <a:xfrm>
            <a:off x="1478322" y="1763619"/>
            <a:ext cx="2969853" cy="4056654"/>
            <a:chOff x="634263" y="838200"/>
            <a:chExt cx="5132274" cy="7010400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1536393" y="2169836"/>
              <a:ext cx="1942488" cy="78412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</a:pPr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1516139" y="3765657"/>
              <a:ext cx="4046462" cy="78560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</a:pPr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1635718" y="5307480"/>
              <a:ext cx="3794750" cy="128356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</a:pPr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8" name="Line 16"/>
            <p:cNvSpPr>
              <a:spLocks noChangeShapeType="1"/>
            </p:cNvSpPr>
            <p:nvPr/>
          </p:nvSpPr>
          <p:spPr bwMode="auto">
            <a:xfrm>
              <a:off x="3470834" y="6591046"/>
              <a:ext cx="0" cy="7392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9" name="Line 26"/>
            <p:cNvSpPr>
              <a:spLocks noChangeShapeType="1"/>
            </p:cNvSpPr>
            <p:nvPr/>
          </p:nvSpPr>
          <p:spPr bwMode="auto">
            <a:xfrm>
              <a:off x="3493646" y="4537342"/>
              <a:ext cx="0" cy="7701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0" name="Line 28"/>
            <p:cNvSpPr>
              <a:spLocks noChangeShapeType="1"/>
            </p:cNvSpPr>
            <p:nvPr/>
          </p:nvSpPr>
          <p:spPr bwMode="auto">
            <a:xfrm>
              <a:off x="2514600" y="4537342"/>
              <a:ext cx="0" cy="7701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1" name="Text Box 30"/>
            <p:cNvSpPr txBox="1">
              <a:spLocks noChangeArrowheads="1"/>
            </p:cNvSpPr>
            <p:nvPr/>
          </p:nvSpPr>
          <p:spPr bwMode="auto">
            <a:xfrm>
              <a:off x="1776496" y="3791946"/>
              <a:ext cx="3449773" cy="7330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 anchor="ctr"/>
            <a:lstStyle/>
            <a:p>
              <a:pPr algn="ctr" eaLnBrk="1" hangingPunct="1"/>
              <a:r>
                <a:rPr lang="en-US" sz="1400" dirty="0">
                  <a:latin typeface="Courier New" pitchFamily="49" charset="0"/>
                  <a:cs typeface="Courier New" pitchFamily="49" charset="0"/>
                </a:rPr>
                <a:t>Partial </a:t>
              </a:r>
              <a:r>
                <a:rPr lang="en-US" sz="1400" dirty="0" smtClean="0">
                  <a:latin typeface="Courier New" pitchFamily="49" charset="0"/>
                  <a:cs typeface="Courier New" pitchFamily="49" charset="0"/>
                </a:rPr>
                <a:t>Products Generation</a:t>
              </a:r>
              <a:endParaRPr lang="en-US" sz="14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" name="Text Box 31"/>
            <p:cNvSpPr txBox="1">
              <a:spLocks noChangeArrowheads="1"/>
            </p:cNvSpPr>
            <p:nvPr/>
          </p:nvSpPr>
          <p:spPr bwMode="auto">
            <a:xfrm>
              <a:off x="1419634" y="2195388"/>
              <a:ext cx="2165395" cy="7330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 anchor="ctr"/>
            <a:lstStyle/>
            <a:p>
              <a:pPr algn="ctr" eaLnBrk="1" hangingPunct="1"/>
              <a:r>
                <a:rPr lang="en-US" sz="1400" dirty="0" smtClean="0">
                  <a:latin typeface="Courier New" pitchFamily="49" charset="0"/>
                  <a:cs typeface="Courier New" pitchFamily="49" charset="0"/>
                </a:rPr>
                <a:t>Booth </a:t>
              </a:r>
            </a:p>
            <a:p>
              <a:pPr algn="ctr" eaLnBrk="1" hangingPunct="1"/>
              <a:r>
                <a:rPr lang="en-US" sz="1400" dirty="0" smtClean="0">
                  <a:latin typeface="Courier New" pitchFamily="49" charset="0"/>
                  <a:cs typeface="Courier New" pitchFamily="49" charset="0"/>
                </a:rPr>
                <a:t>Encoder</a:t>
              </a:r>
              <a:endParaRPr lang="en-US" sz="44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3" name="Text Box 33"/>
            <p:cNvSpPr txBox="1">
              <a:spLocks noChangeArrowheads="1"/>
            </p:cNvSpPr>
            <p:nvPr/>
          </p:nvSpPr>
          <p:spPr bwMode="auto">
            <a:xfrm>
              <a:off x="1631731" y="5582750"/>
              <a:ext cx="3831902" cy="7330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 anchor="ctr"/>
            <a:lstStyle/>
            <a:p>
              <a:pPr algn="ctr" eaLnBrk="1" hangingPunct="1"/>
              <a:r>
                <a:rPr lang="en-US" sz="1400" dirty="0" smtClean="0">
                  <a:latin typeface="Courier New" pitchFamily="49" charset="0"/>
                  <a:cs typeface="Courier New" pitchFamily="49" charset="0"/>
                </a:rPr>
                <a:t>Wallace </a:t>
              </a:r>
              <a:r>
                <a:rPr lang="en-US" sz="1400" dirty="0">
                  <a:latin typeface="Courier New" pitchFamily="49" charset="0"/>
                  <a:cs typeface="Courier New" pitchFamily="49" charset="0"/>
                </a:rPr>
                <a:t>Tree </a:t>
              </a:r>
              <a:r>
                <a:rPr lang="en-US" sz="1400" dirty="0" smtClean="0">
                  <a:latin typeface="Courier New" pitchFamily="49" charset="0"/>
                  <a:cs typeface="Courier New" pitchFamily="49" charset="0"/>
                </a:rPr>
                <a:t>Adder </a:t>
              </a:r>
              <a:r>
                <a:rPr lang="en-US" sz="1400" dirty="0">
                  <a:latin typeface="Courier New" pitchFamily="49" charset="0"/>
                  <a:cs typeface="Courier New" pitchFamily="49" charset="0"/>
                </a:rPr>
                <a:t>Network</a:t>
              </a:r>
            </a:p>
          </p:txBody>
        </p:sp>
        <p:sp>
          <p:nvSpPr>
            <p:cNvPr id="14" name="Text Box 38"/>
            <p:cNvSpPr txBox="1">
              <a:spLocks noChangeArrowheads="1"/>
            </p:cNvSpPr>
            <p:nvPr/>
          </p:nvSpPr>
          <p:spPr bwMode="auto">
            <a:xfrm>
              <a:off x="2005863" y="838200"/>
              <a:ext cx="965937" cy="4237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/>
            <a:lstStyle/>
            <a:p>
              <a:pPr algn="ctr" eaLnBrk="1" hangingPunct="1"/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S1</a:t>
              </a:r>
              <a:endParaRPr lang="en-US" sz="1400" b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5" name="Text Box 39"/>
            <p:cNvSpPr txBox="1">
              <a:spLocks noChangeArrowheads="1"/>
            </p:cNvSpPr>
            <p:nvPr/>
          </p:nvSpPr>
          <p:spPr bwMode="auto">
            <a:xfrm>
              <a:off x="3962401" y="838200"/>
              <a:ext cx="1088004" cy="4237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/>
            <a:lstStyle/>
            <a:p>
              <a:pPr algn="ctr" eaLnBrk="1" hangingPunct="1"/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S2</a:t>
              </a:r>
              <a:endParaRPr lang="en-US" sz="1400" b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6" name="Line 28"/>
            <p:cNvSpPr>
              <a:spLocks noChangeShapeType="1"/>
            </p:cNvSpPr>
            <p:nvPr/>
          </p:nvSpPr>
          <p:spPr bwMode="auto">
            <a:xfrm>
              <a:off x="4495799" y="4528210"/>
              <a:ext cx="0" cy="7701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7" name="Text Box 39"/>
            <p:cNvSpPr txBox="1">
              <a:spLocks noChangeArrowheads="1"/>
            </p:cNvSpPr>
            <p:nvPr/>
          </p:nvSpPr>
          <p:spPr bwMode="auto">
            <a:xfrm>
              <a:off x="2921000" y="7424868"/>
              <a:ext cx="1088004" cy="4237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/>
            <a:lstStyle/>
            <a:p>
              <a:pPr algn="ctr" eaLnBrk="1" hangingPunct="1"/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PROD</a:t>
              </a:r>
              <a:endParaRPr lang="en-US" sz="1400" b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8" name="Line 14"/>
            <p:cNvSpPr>
              <a:spLocks noChangeShapeType="1"/>
            </p:cNvSpPr>
            <p:nvPr/>
          </p:nvSpPr>
          <p:spPr bwMode="auto">
            <a:xfrm>
              <a:off x="2514600" y="1371600"/>
              <a:ext cx="0" cy="7974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4482844" y="1381660"/>
              <a:ext cx="0" cy="23714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0" name="Line 14"/>
            <p:cNvSpPr>
              <a:spLocks noChangeShapeType="1"/>
            </p:cNvSpPr>
            <p:nvPr/>
          </p:nvSpPr>
          <p:spPr bwMode="auto">
            <a:xfrm>
              <a:off x="2514600" y="2971800"/>
              <a:ext cx="0" cy="7822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1" name="Line 14"/>
            <p:cNvSpPr>
              <a:spLocks noChangeShapeType="1"/>
            </p:cNvSpPr>
            <p:nvPr/>
          </p:nvSpPr>
          <p:spPr bwMode="auto">
            <a:xfrm>
              <a:off x="2895600" y="2971800"/>
              <a:ext cx="0" cy="7894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2" name="Line 14"/>
            <p:cNvSpPr>
              <a:spLocks noChangeShapeType="1"/>
            </p:cNvSpPr>
            <p:nvPr/>
          </p:nvSpPr>
          <p:spPr bwMode="auto">
            <a:xfrm>
              <a:off x="2133600" y="2971800"/>
              <a:ext cx="0" cy="7894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3" name="Text Box 38"/>
            <p:cNvSpPr txBox="1">
              <a:spLocks noChangeArrowheads="1"/>
            </p:cNvSpPr>
            <p:nvPr/>
          </p:nvSpPr>
          <p:spPr bwMode="auto">
            <a:xfrm>
              <a:off x="634263" y="3124200"/>
              <a:ext cx="1423137" cy="4237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/>
            <a:lstStyle/>
            <a:p>
              <a:pPr algn="ctr" eaLnBrk="1" hangingPunct="1"/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BE</a:t>
              </a:r>
              <a:r>
                <a:rPr lang="en-US" sz="1400" b="1" baseline="-25000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endParaRPr lang="en-US" sz="1400" b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4" name="Text Box 38"/>
            <p:cNvSpPr txBox="1">
              <a:spLocks noChangeArrowheads="1"/>
            </p:cNvSpPr>
            <p:nvPr/>
          </p:nvSpPr>
          <p:spPr bwMode="auto">
            <a:xfrm>
              <a:off x="4800600" y="4724400"/>
              <a:ext cx="965937" cy="423732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/>
            <a:lstStyle/>
            <a:p>
              <a:pPr algn="ctr" eaLnBrk="1" hangingPunct="1"/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PP</a:t>
              </a:r>
              <a:r>
                <a:rPr lang="en-US" sz="1400" b="1" baseline="-25000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endParaRPr lang="en-US" sz="1400" b="1" baseline="-25000" dirty="0">
                <a:latin typeface="Courier New" pitchFamily="49" charset="0"/>
                <a:cs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0927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FV 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Varying specs and verification strategies</a:t>
            </a:r>
          </a:p>
          <a:p>
            <a:pPr lvl="1"/>
            <a:r>
              <a:rPr lang="en-US" dirty="0" smtClean="0"/>
              <a:t>Implementation changes </a:t>
            </a:r>
            <a:r>
              <a:rPr lang="en-US" dirty="0"/>
              <a:t>from design to </a:t>
            </a:r>
            <a:r>
              <a:rPr lang="en-US" dirty="0" smtClean="0"/>
              <a:t>design</a:t>
            </a:r>
          </a:p>
          <a:p>
            <a:pPr lvl="1"/>
            <a:r>
              <a:rPr lang="en-US" dirty="0" smtClean="0"/>
              <a:t>Multiplier always requires decomposition</a:t>
            </a:r>
          </a:p>
          <a:p>
            <a:r>
              <a:rPr lang="en-US" dirty="0" smtClean="0"/>
              <a:t>Ten designers but not ten multiplier FV experts </a:t>
            </a:r>
          </a:p>
          <a:p>
            <a:endParaRPr lang="en-US" dirty="0" smtClean="0"/>
          </a:p>
          <a:p>
            <a:r>
              <a:rPr lang="en-US" dirty="0" smtClean="0"/>
              <a:t>Same story for integer, MMX, FP, SSE, GPU flavors of multiplication, addition, division, …</a:t>
            </a:r>
          </a:p>
          <a:p>
            <a:pPr lvl="1"/>
            <a:r>
              <a:rPr lang="en-US" dirty="0" smtClean="0"/>
              <a:t>Some </a:t>
            </a:r>
            <a:r>
              <a:rPr lang="en-US" dirty="0"/>
              <a:t>operations require </a:t>
            </a:r>
            <a:r>
              <a:rPr lang="en-US" dirty="0" smtClean="0"/>
              <a:t>even more intricate decomposition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338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solution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1000" y="3282434"/>
            <a:ext cx="1249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Parameters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362200" y="2895600"/>
            <a:ext cx="17526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CVE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4886422" y="3163669"/>
            <a:ext cx="17429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Per-design specs</a:t>
            </a:r>
          </a:p>
          <a:p>
            <a:r>
              <a:rPr lang="en-US" dirty="0" smtClean="0"/>
              <a:t>Verification runs</a:t>
            </a:r>
          </a:p>
        </p:txBody>
      </p:sp>
      <p:pic>
        <p:nvPicPr>
          <p:cNvPr id="7" name="Picture 4" descr="dual core die intel ato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370" y="3048000"/>
            <a:ext cx="807230" cy="855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/>
          <p:cNvCxnSpPr>
            <a:stCxn id="4" idx="3"/>
            <a:endCxn id="5" idx="1"/>
          </p:cNvCxnSpPr>
          <p:nvPr/>
        </p:nvCxnSpPr>
        <p:spPr>
          <a:xfrm>
            <a:off x="1630316" y="3467100"/>
            <a:ext cx="73188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4114800" y="3470564"/>
            <a:ext cx="65568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Left-Right Arrow 10"/>
          <p:cNvSpPr/>
          <p:nvPr/>
        </p:nvSpPr>
        <p:spPr>
          <a:xfrm>
            <a:off x="6781799" y="3200400"/>
            <a:ext cx="762001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05400" y="4648200"/>
            <a:ext cx="14478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Deduction</a:t>
            </a:r>
            <a:endParaRPr lang="en-US" dirty="0"/>
          </a:p>
        </p:txBody>
      </p:sp>
      <p:sp>
        <p:nvSpPr>
          <p:cNvPr id="13" name="Down Arrow 12"/>
          <p:cNvSpPr/>
          <p:nvPr/>
        </p:nvSpPr>
        <p:spPr>
          <a:xfrm>
            <a:off x="5605511" y="3886200"/>
            <a:ext cx="414289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6553200" y="5212773"/>
            <a:ext cx="65568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208884" y="4889607"/>
                <a:ext cx="170912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i="0" smtClean="0">
                          <a:latin typeface="Cambria Math"/>
                          <a:ea typeface="Cambria Math"/>
                        </a:rPr>
                        <m:t>⊢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/>
                          <a:ea typeface="Cambria Math"/>
                        </a:rPr>
                        <m:t>specs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/>
                          <a:ea typeface="Cambria Math"/>
                        </a:rPr>
                        <m:t>+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/>
                          <a:ea typeface="Cambria Math"/>
                        </a:rPr>
                        <m:t>runs</m:t>
                      </m:r>
                    </m:oMath>
                  </m:oMathPara>
                </a14:m>
                <a:endParaRPr lang="en-US" sz="2000" b="0" i="1" dirty="0" smtClean="0"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0" i="0" smtClean="0">
                          <a:latin typeface="Cambria Math"/>
                          <a:ea typeface="Cambria Math"/>
                        </a:rPr>
                        <m:t>⇒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/>
                          <a:ea typeface="Cambria Math"/>
                        </a:rPr>
                        <m:t>correct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8884" y="4889607"/>
                <a:ext cx="1709122" cy="70788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/>
          <p:cNvGrpSpPr/>
          <p:nvPr/>
        </p:nvGrpSpPr>
        <p:grpSpPr>
          <a:xfrm>
            <a:off x="990600" y="1573768"/>
            <a:ext cx="7216385" cy="559832"/>
            <a:chOff x="990600" y="1573768"/>
            <a:chExt cx="7216385" cy="559832"/>
          </a:xfrm>
        </p:grpSpPr>
        <p:sp>
          <p:nvSpPr>
            <p:cNvPr id="15" name="Right Triangle 14"/>
            <p:cNvSpPr/>
            <p:nvPr/>
          </p:nvSpPr>
          <p:spPr>
            <a:xfrm>
              <a:off x="1005658" y="1676400"/>
              <a:ext cx="7201327" cy="457200"/>
            </a:xfrm>
            <a:prstGeom prst="rtTriangle">
              <a:avLst/>
            </a:prstGeom>
            <a:solidFill>
              <a:srgbClr val="FFC000">
                <a:alpha val="1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Development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Right Triangle 18"/>
            <p:cNvSpPr/>
            <p:nvPr/>
          </p:nvSpPr>
          <p:spPr>
            <a:xfrm flipH="1" flipV="1">
              <a:off x="990600" y="1676400"/>
              <a:ext cx="7201327" cy="457200"/>
            </a:xfrm>
            <a:prstGeom prst="rtTriangle">
              <a:avLst/>
            </a:prstGeom>
            <a:solidFill>
              <a:srgbClr val="C0504D">
                <a:alpha val="1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181600" y="1573768"/>
              <a:ext cx="11987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Regression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35118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solution </a:t>
            </a:r>
            <a:r>
              <a:rPr lang="en-US" i="1" dirty="0" smtClean="0"/>
              <a:t>done right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An executable logic for writing the specs and verification scripts: </a:t>
            </a:r>
            <a:r>
              <a:rPr lang="en-US" dirty="0" err="1" smtClean="0">
                <a:solidFill>
                  <a:srgbClr val="FF0000"/>
                </a:solidFill>
              </a:rPr>
              <a:t>reFLect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A symbolic simulator that admits relational specifications written in logic: </a:t>
            </a:r>
            <a:r>
              <a:rPr lang="en-US" dirty="0" err="1" smtClean="0">
                <a:solidFill>
                  <a:srgbClr val="FF0000"/>
                </a:solidFill>
              </a:rPr>
              <a:t>rSTE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A tightly integrated theorem </a:t>
            </a:r>
            <a:r>
              <a:rPr lang="en-US" dirty="0" err="1" smtClean="0"/>
              <a:t>prover</a:t>
            </a:r>
            <a:r>
              <a:rPr lang="en-US" dirty="0" smtClean="0"/>
              <a:t> for executing the deductive proofs: </a:t>
            </a:r>
            <a:r>
              <a:rPr lang="en-US" dirty="0" smtClean="0">
                <a:solidFill>
                  <a:srgbClr val="FF0000"/>
                </a:solidFill>
              </a:rPr>
              <a:t>Goaled</a:t>
            </a:r>
          </a:p>
        </p:txBody>
      </p:sp>
    </p:spTree>
    <p:extLst>
      <p:ext uri="{BB962C8B-B14F-4D97-AF65-F5344CB8AC3E}">
        <p14:creationId xmlns:p14="http://schemas.microsoft.com/office/powerpoint/2010/main" val="1492844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solution </a:t>
            </a:r>
            <a:r>
              <a:rPr lang="en-US" i="1" dirty="0" smtClean="0"/>
              <a:t>done right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An executable logic for writing the specs and verification scripts: </a:t>
            </a:r>
            <a:r>
              <a:rPr lang="en-US" dirty="0" smtClean="0">
                <a:solidFill>
                  <a:srgbClr val="FF0000"/>
                </a:solidFill>
              </a:rPr>
              <a:t>applicative common lisp</a:t>
            </a:r>
          </a:p>
          <a:p>
            <a:r>
              <a:rPr lang="en-US" dirty="0" smtClean="0"/>
              <a:t>A symbolic simulator that admits relational specifications written in logic: </a:t>
            </a:r>
            <a:r>
              <a:rPr lang="en-US" dirty="0" smtClean="0">
                <a:solidFill>
                  <a:srgbClr val="FF0000"/>
                </a:solidFill>
              </a:rPr>
              <a:t>ESIM+GL</a:t>
            </a:r>
          </a:p>
          <a:p>
            <a:r>
              <a:rPr lang="en-US" dirty="0" smtClean="0"/>
              <a:t>A tightly integrated theorem </a:t>
            </a:r>
            <a:r>
              <a:rPr lang="en-US" dirty="0" err="1" smtClean="0"/>
              <a:t>prover</a:t>
            </a:r>
            <a:r>
              <a:rPr lang="en-US" dirty="0" smtClean="0"/>
              <a:t> for executing the deductive proofs: </a:t>
            </a:r>
            <a:r>
              <a:rPr lang="en-US" dirty="0" smtClean="0">
                <a:solidFill>
                  <a:srgbClr val="FF0000"/>
                </a:solidFill>
              </a:rPr>
              <a:t>ACL2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[Slobodová </a:t>
            </a:r>
            <a:r>
              <a:rPr lang="en-US" sz="2400" i="1" dirty="0" smtClean="0"/>
              <a:t>et al</a:t>
            </a:r>
            <a:r>
              <a:rPr lang="en-US" sz="2400" dirty="0" smtClean="0"/>
              <a:t>, MEMOCODE’11]</a:t>
            </a:r>
          </a:p>
        </p:txBody>
      </p:sp>
    </p:spTree>
    <p:extLst>
      <p:ext uri="{BB962C8B-B14F-4D97-AF65-F5344CB8AC3E}">
        <p14:creationId xmlns:p14="http://schemas.microsoft.com/office/powerpoint/2010/main" val="1169722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reFLect Language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dirty="0" smtClean="0"/>
              <a:t>Core syntax:</a:t>
            </a:r>
          </a:p>
          <a:p>
            <a:pPr lvl="1" eaLnBrk="1" hangingPunct="1">
              <a:spcBef>
                <a:spcPct val="70000"/>
              </a:spcBef>
              <a:buFontTx/>
              <a:buChar char=" "/>
            </a:pPr>
            <a:r>
              <a:rPr lang="en-US" sz="2000" i="1" dirty="0" err="1" smtClean="0"/>
              <a:t>n</a:t>
            </a:r>
            <a:r>
              <a:rPr lang="en-US" sz="2000" dirty="0" err="1" smtClean="0"/>
              <a:t>,</a:t>
            </a:r>
            <a:r>
              <a:rPr lang="en-US" sz="2000" i="1" dirty="0" err="1" smtClean="0"/>
              <a:t>o</a:t>
            </a:r>
            <a:r>
              <a:rPr lang="en-US" sz="2000" dirty="0" err="1" smtClean="0"/>
              <a:t>,</a:t>
            </a:r>
            <a:r>
              <a:rPr lang="en-US" sz="2000" i="1" dirty="0" err="1" smtClean="0"/>
              <a:t>p</a:t>
            </a:r>
            <a:r>
              <a:rPr lang="en-US" sz="2000" dirty="0" smtClean="0"/>
              <a:t>  ::=  k  |  </a:t>
            </a:r>
            <a:r>
              <a:rPr lang="en-US" sz="2000" i="1" dirty="0" smtClean="0"/>
              <a:t>v</a:t>
            </a:r>
            <a:r>
              <a:rPr lang="en-US" sz="2000" dirty="0" smtClean="0"/>
              <a:t>  |  </a:t>
            </a:r>
            <a:r>
              <a:rPr lang="en-US" sz="2000" i="1" dirty="0" smtClean="0"/>
              <a:t>n</a:t>
            </a:r>
            <a:r>
              <a:rPr lang="en-US" sz="2000" dirty="0" smtClean="0"/>
              <a:t> </a:t>
            </a:r>
            <a:r>
              <a:rPr lang="en-US" sz="2000" i="1" dirty="0" smtClean="0"/>
              <a:t>o</a:t>
            </a:r>
            <a:r>
              <a:rPr lang="en-US" sz="2000" dirty="0" smtClean="0"/>
              <a:t>  |  </a:t>
            </a:r>
            <a:r>
              <a:rPr lang="en-US" sz="2000" b="1" dirty="0" smtClean="0">
                <a:sym typeface="Symbol" pitchFamily="18" charset="2"/>
              </a:rPr>
              <a:t></a:t>
            </a:r>
            <a:r>
              <a:rPr lang="en-US" sz="2000" i="1" dirty="0" smtClean="0">
                <a:sym typeface="Symbol" pitchFamily="18" charset="2"/>
              </a:rPr>
              <a:t>p</a:t>
            </a:r>
            <a:r>
              <a:rPr lang="en-US" sz="2000" dirty="0" smtClean="0">
                <a:sym typeface="Symbol" pitchFamily="18" charset="2"/>
              </a:rPr>
              <a:t>. </a:t>
            </a:r>
            <a:r>
              <a:rPr lang="en-US" sz="2000" i="1" dirty="0" smtClean="0">
                <a:sym typeface="Symbol" pitchFamily="18" charset="2"/>
              </a:rPr>
              <a:t>n </a:t>
            </a:r>
            <a:r>
              <a:rPr lang="en-US" sz="2000" dirty="0" smtClean="0">
                <a:sym typeface="Symbol" pitchFamily="18" charset="2"/>
              </a:rPr>
              <a:t> </a:t>
            </a:r>
            <a:r>
              <a:rPr lang="en-US" sz="2000" i="1" dirty="0" smtClean="0">
                <a:sym typeface="Symbol" pitchFamily="18" charset="2"/>
              </a:rPr>
              <a:t>o</a:t>
            </a:r>
            <a:r>
              <a:rPr lang="en-US" sz="2000" dirty="0" smtClean="0">
                <a:sym typeface="Symbol" pitchFamily="18" charset="2"/>
              </a:rPr>
              <a:t> |  </a:t>
            </a:r>
            <a:r>
              <a:rPr lang="en-US" sz="2000" b="1" dirty="0" smtClean="0">
                <a:sym typeface="Symbol" pitchFamily="18" charset="2"/>
              </a:rPr>
              <a:t></a:t>
            </a:r>
            <a:r>
              <a:rPr lang="en-US" sz="2000" dirty="0" smtClean="0">
                <a:sym typeface="Symbol" pitchFamily="18" charset="2"/>
              </a:rPr>
              <a:t> </a:t>
            </a:r>
            <a:r>
              <a:rPr lang="en-US" sz="2000" i="1" dirty="0" smtClean="0">
                <a:sym typeface="Symbol" pitchFamily="18" charset="2"/>
              </a:rPr>
              <a:t>n</a:t>
            </a:r>
            <a:r>
              <a:rPr lang="en-US" sz="2000" dirty="0" smtClean="0">
                <a:sym typeface="Symbol" pitchFamily="18" charset="2"/>
              </a:rPr>
              <a:t> </a:t>
            </a:r>
            <a:r>
              <a:rPr lang="en-US" sz="2000" b="1" dirty="0" smtClean="0">
                <a:sym typeface="Symbol" pitchFamily="18" charset="2"/>
              </a:rPr>
              <a:t></a:t>
            </a:r>
            <a:r>
              <a:rPr lang="en-US" sz="2000" dirty="0" smtClean="0">
                <a:sym typeface="Symbol" pitchFamily="18" charset="2"/>
              </a:rPr>
              <a:t>  |  ^</a:t>
            </a:r>
            <a:r>
              <a:rPr lang="en-US" sz="2000" i="1" dirty="0" err="1" smtClean="0">
                <a:sym typeface="Symbol" pitchFamily="18" charset="2"/>
              </a:rPr>
              <a:t>n:</a:t>
            </a:r>
            <a:r>
              <a:rPr lang="en-US" sz="2000" i="1" dirty="0" err="1" smtClean="0">
                <a:latin typeface="Symbol" pitchFamily="18" charset="2"/>
                <a:sym typeface="Symbol" pitchFamily="18" charset="2"/>
              </a:rPr>
              <a:t>s</a:t>
            </a:r>
            <a:endParaRPr lang="en-US" sz="2000" i="1" dirty="0" smtClean="0">
              <a:latin typeface="Symbol" pitchFamily="18" charset="2"/>
              <a:sym typeface="Symbol" pitchFamily="18" charset="2"/>
            </a:endParaRPr>
          </a:p>
          <a:p>
            <a:pPr lvl="1" eaLnBrk="1" hangingPunct="1">
              <a:spcBef>
                <a:spcPct val="70000"/>
              </a:spcBef>
              <a:buFontTx/>
              <a:buChar char=" "/>
            </a:pPr>
            <a:endParaRPr lang="en-US" sz="2000" dirty="0" smtClean="0">
              <a:sym typeface="Symbol" pitchFamily="18" charset="2"/>
            </a:endParaRPr>
          </a:p>
          <a:p>
            <a:pPr lvl="1" eaLnBrk="1" hangingPunct="1">
              <a:spcBef>
                <a:spcPct val="45000"/>
              </a:spcBef>
              <a:buFontTx/>
              <a:buChar char=" "/>
            </a:pPr>
            <a:endParaRPr lang="en-US" sz="2000" dirty="0" smtClean="0">
              <a:sym typeface="Symbol" pitchFamily="18" charset="2"/>
            </a:endParaRPr>
          </a:p>
          <a:p>
            <a:pPr eaLnBrk="1" hangingPunct="1">
              <a:spcBef>
                <a:spcPct val="0"/>
              </a:spcBef>
            </a:pPr>
            <a:r>
              <a:rPr lang="en-US" sz="2400" dirty="0" smtClean="0">
                <a:sym typeface="Symbol" pitchFamily="18" charset="2"/>
              </a:rPr>
              <a:t>… plus extensions driven by necessity</a:t>
            </a:r>
          </a:p>
          <a:p>
            <a:pPr lvl="1">
              <a:spcBef>
                <a:spcPct val="0"/>
              </a:spcBef>
            </a:pPr>
            <a:r>
              <a:rPr lang="en-US" sz="2000" dirty="0" smtClean="0"/>
              <a:t>BDDs built in as a primitive type</a:t>
            </a:r>
          </a:p>
          <a:p>
            <a:pPr lvl="1">
              <a:spcBef>
                <a:spcPct val="0"/>
              </a:spcBef>
            </a:pPr>
            <a:r>
              <a:rPr lang="en-US" sz="2000" dirty="0" smtClean="0"/>
              <a:t>Quotient types</a:t>
            </a:r>
          </a:p>
          <a:p>
            <a:pPr lvl="1">
              <a:spcBef>
                <a:spcPct val="0"/>
              </a:spcBef>
            </a:pPr>
            <a:r>
              <a:rPr lang="en-US" sz="2000" dirty="0" smtClean="0"/>
              <a:t>Overloading</a:t>
            </a:r>
            <a:endParaRPr lang="en-US" sz="2000" dirty="0" smtClean="0"/>
          </a:p>
          <a:p>
            <a:pPr lvl="1">
              <a:spcBef>
                <a:spcPct val="0"/>
              </a:spcBef>
            </a:pPr>
            <a:r>
              <a:rPr lang="en-US" sz="2000" dirty="0" smtClean="0"/>
              <a:t>Named </a:t>
            </a:r>
            <a:r>
              <a:rPr lang="en-US" sz="2000" dirty="0" smtClean="0"/>
              <a:t>function parameters</a:t>
            </a:r>
          </a:p>
          <a:p>
            <a:pPr lvl="1">
              <a:spcBef>
                <a:spcPct val="0"/>
              </a:spcBef>
            </a:pPr>
            <a:r>
              <a:rPr lang="en-US" sz="2000" dirty="0" smtClean="0"/>
              <a:t>Records</a:t>
            </a:r>
          </a:p>
          <a:p>
            <a:pPr lvl="1">
              <a:spcBef>
                <a:spcPct val="0"/>
              </a:spcBef>
            </a:pPr>
            <a:r>
              <a:rPr lang="en-US" sz="2000" dirty="0" smtClean="0"/>
              <a:t>Possibly unsafe features: references, I/O, recursion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2057400" y="2711450"/>
            <a:ext cx="2743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000" i="1" dirty="0">
                <a:solidFill>
                  <a:srgbClr val="FF0000"/>
                </a:solidFill>
              </a:rPr>
              <a:t>pattern matching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5562600" y="2739117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000" i="1">
                <a:solidFill>
                  <a:srgbClr val="FF0000"/>
                </a:solidFill>
              </a:rPr>
              <a:t>reflection</a:t>
            </a:r>
          </a:p>
        </p:txBody>
      </p:sp>
      <p:sp>
        <p:nvSpPr>
          <p:cNvPr id="19464" name="AutoShape 13"/>
          <p:cNvSpPr>
            <a:spLocks/>
          </p:cNvSpPr>
          <p:nvPr/>
        </p:nvSpPr>
        <p:spPr bwMode="auto">
          <a:xfrm rot="-5400000">
            <a:off x="4275137" y="2201862"/>
            <a:ext cx="136525" cy="914400"/>
          </a:xfrm>
          <a:prstGeom prst="leftBrace">
            <a:avLst>
              <a:gd name="adj1" fmla="val 70833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19465" name="AutoShape 14"/>
          <p:cNvSpPr>
            <a:spLocks/>
          </p:cNvSpPr>
          <p:nvPr/>
        </p:nvSpPr>
        <p:spPr bwMode="auto">
          <a:xfrm rot="-5400000">
            <a:off x="5652633" y="1979158"/>
            <a:ext cx="124733" cy="1371600"/>
          </a:xfrm>
          <a:prstGeom prst="leftBrace">
            <a:avLst>
              <a:gd name="adj1" fmla="val 87500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320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Higher Order Logic of reFLect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66713" y="1371600"/>
            <a:ext cx="4506912" cy="1965325"/>
          </a:xfrm>
          <a:ln>
            <a:solidFill>
              <a:schemeClr val="bg1"/>
            </a:solidFill>
          </a:ln>
        </p:spPr>
        <p:txBody>
          <a:bodyPr/>
          <a:lstStyle/>
          <a:p>
            <a:pPr eaLnBrk="1" hangingPunct="1"/>
            <a:r>
              <a:rPr lang="en-US" sz="2300" smtClean="0"/>
              <a:t>HOL, following Church:</a:t>
            </a:r>
          </a:p>
          <a:p>
            <a:pPr eaLnBrk="1" hangingPunct="1"/>
            <a:endParaRPr lang="en-US" sz="2300" smtClean="0"/>
          </a:p>
          <a:p>
            <a:pPr lvl="1" eaLnBrk="1" hangingPunct="1">
              <a:buFontTx/>
              <a:buNone/>
            </a:pPr>
            <a:endParaRPr lang="en-US" sz="1400" smtClean="0"/>
          </a:p>
          <a:p>
            <a:pPr lvl="1" eaLnBrk="1" hangingPunct="1">
              <a:buFontTx/>
              <a:buNone/>
            </a:pPr>
            <a:r>
              <a:rPr lang="en-US" smtClean="0"/>
              <a:t>Logic =</a:t>
            </a:r>
          </a:p>
          <a:p>
            <a:pPr lvl="1" eaLnBrk="1" hangingPunct="1">
              <a:buFontTx/>
              <a:buNone/>
            </a:pPr>
            <a:endParaRPr lang="en-US" smtClean="0"/>
          </a:p>
          <a:p>
            <a:pPr lvl="1" eaLnBrk="1" hangingPunct="1">
              <a:buFontTx/>
              <a:buNone/>
            </a:pPr>
            <a:endParaRPr lang="en-US" smtClean="0"/>
          </a:p>
          <a:p>
            <a:pPr lvl="1" eaLnBrk="1" hangingPunct="1">
              <a:buFontTx/>
              <a:buNone/>
            </a:pPr>
            <a:endParaRPr lang="en-US" smtClean="0"/>
          </a:p>
          <a:p>
            <a:pPr eaLnBrk="1" hangingPunct="1"/>
            <a:endParaRPr lang="en-US" sz="2300" b="1" smtClean="0">
              <a:solidFill>
                <a:schemeClr val="accent1"/>
              </a:solidFill>
            </a:endParaRP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45025" y="1371600"/>
            <a:ext cx="4129088" cy="1895475"/>
          </a:xfrm>
        </p:spPr>
        <p:txBody>
          <a:bodyPr/>
          <a:lstStyle/>
          <a:p>
            <a:pPr eaLnBrk="1" hangingPunct="1"/>
            <a:r>
              <a:rPr lang="en-GB" sz="2300" smtClean="0"/>
              <a:t>The reFLect logic:</a:t>
            </a:r>
          </a:p>
          <a:p>
            <a:pPr eaLnBrk="1" hangingPunct="1"/>
            <a:endParaRPr lang="en-US" sz="2300" smtClean="0"/>
          </a:p>
          <a:p>
            <a:pPr lvl="1" eaLnBrk="1" hangingPunct="1">
              <a:buFontTx/>
              <a:buNone/>
            </a:pPr>
            <a:endParaRPr lang="en-US" sz="1400" smtClean="0"/>
          </a:p>
          <a:p>
            <a:pPr lvl="1" eaLnBrk="1" hangingPunct="1">
              <a:buFontTx/>
              <a:buNone/>
            </a:pPr>
            <a:r>
              <a:rPr lang="en-US" smtClean="0"/>
              <a:t>Logic =</a:t>
            </a:r>
          </a:p>
          <a:p>
            <a:pPr lvl="1" eaLnBrk="1" hangingPunct="1">
              <a:buFontTx/>
              <a:buNone/>
            </a:pPr>
            <a:endParaRPr lang="en-US" smtClean="0"/>
          </a:p>
          <a:p>
            <a:pPr lvl="1" eaLnBrk="1" hangingPunct="1">
              <a:buFontTx/>
              <a:buNone/>
            </a:pPr>
            <a:endParaRPr lang="en-US" smtClean="0"/>
          </a:p>
          <a:p>
            <a:pPr lvl="1" eaLnBrk="1" hangingPunct="1">
              <a:buFontTx/>
              <a:buNone/>
            </a:pPr>
            <a:endParaRPr lang="en-US" smtClean="0"/>
          </a:p>
        </p:txBody>
      </p:sp>
      <p:sp>
        <p:nvSpPr>
          <p:cNvPr id="20485" name="Text Box 6"/>
          <p:cNvSpPr txBox="1">
            <a:spLocks noChangeArrowheads="1"/>
          </p:cNvSpPr>
          <p:nvPr/>
        </p:nvSpPr>
        <p:spPr bwMode="auto">
          <a:xfrm>
            <a:off x="2241550" y="2039938"/>
            <a:ext cx="2254250" cy="1465262"/>
          </a:xfrm>
          <a:prstGeom prst="rect">
            <a:avLst/>
          </a:prstGeom>
          <a:noFill/>
          <a:ln w="254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GB" dirty="0">
                <a:latin typeface="Bookman Old Style" pitchFamily="18" charset="0"/>
                <a:sym typeface="Symbol" pitchFamily="18" charset="2"/>
              </a:rPr>
              <a:t>-</a:t>
            </a:r>
            <a:r>
              <a:rPr lang="en-GB" dirty="0">
                <a:sym typeface="Symbol" pitchFamily="18" charset="2"/>
              </a:rPr>
              <a:t>calculus</a:t>
            </a:r>
          </a:p>
          <a:p>
            <a:r>
              <a:rPr lang="en-GB" dirty="0">
                <a:sym typeface="Symbol" pitchFamily="18" charset="2"/>
              </a:rPr>
              <a:t>  +</a:t>
            </a:r>
          </a:p>
          <a:p>
            <a:r>
              <a:rPr lang="en-GB" dirty="0">
                <a:sym typeface="Symbol" pitchFamily="18" charset="2"/>
              </a:rPr>
              <a:t>logical constants </a:t>
            </a:r>
          </a:p>
          <a:p>
            <a:r>
              <a:rPr lang="en-GB" dirty="0">
                <a:sym typeface="Symbol" pitchFamily="18" charset="2"/>
              </a:rPr>
              <a:t>  +</a:t>
            </a:r>
          </a:p>
          <a:p>
            <a:r>
              <a:rPr lang="en-GB" dirty="0"/>
              <a:t>rules</a:t>
            </a:r>
          </a:p>
        </p:txBody>
      </p:sp>
      <p:sp>
        <p:nvSpPr>
          <p:cNvPr id="20486" name="AutoShape 7"/>
          <p:cNvSpPr>
            <a:spLocks/>
          </p:cNvSpPr>
          <p:nvPr/>
        </p:nvSpPr>
        <p:spPr bwMode="auto">
          <a:xfrm>
            <a:off x="2133600" y="2125663"/>
            <a:ext cx="107950" cy="1295400"/>
          </a:xfrm>
          <a:prstGeom prst="leftBrace">
            <a:avLst>
              <a:gd name="adj1" fmla="val 10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487" name="Rectangle 11"/>
          <p:cNvSpPr>
            <a:spLocks noChangeArrowheads="1"/>
          </p:cNvSpPr>
          <p:nvPr/>
        </p:nvSpPr>
        <p:spPr bwMode="auto">
          <a:xfrm>
            <a:off x="2268538" y="3657600"/>
            <a:ext cx="5884862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193675" indent="-193675" eaLnBrk="0" hangingPunct="0">
              <a:spcBef>
                <a:spcPct val="20000"/>
              </a:spcBef>
              <a:buFontTx/>
              <a:buChar char="•"/>
            </a:pPr>
            <a:r>
              <a:rPr lang="en-US" sz="2400" dirty="0"/>
              <a:t>Basic idea in both systems:</a:t>
            </a:r>
          </a:p>
          <a:p>
            <a:pPr marL="666750" lvl="1" indent="-282575" eaLnBrk="0" hangingPunct="0">
              <a:spcBef>
                <a:spcPct val="20000"/>
              </a:spcBef>
            </a:pPr>
            <a:r>
              <a:rPr lang="en-US" sz="2000" i="1" dirty="0">
                <a:latin typeface="Bookman Old Style" pitchFamily="18" charset="0"/>
              </a:rPr>
              <a:t>n</a:t>
            </a:r>
            <a:r>
              <a:rPr lang="en-US" sz="2000" dirty="0">
                <a:latin typeface="Bookman Old Style" pitchFamily="18" charset="0"/>
              </a:rPr>
              <a:t> </a:t>
            </a:r>
            <a:r>
              <a:rPr lang="en-US" sz="2000" b="1" dirty="0">
                <a:latin typeface="Bookman Old Style" pitchFamily="18" charset="0"/>
                <a:sym typeface="Symbol" pitchFamily="18" charset="2"/>
              </a:rPr>
              <a:t> </a:t>
            </a:r>
            <a:r>
              <a:rPr lang="en-US" sz="2000" i="1" dirty="0">
                <a:latin typeface="Bookman Old Style" pitchFamily="18" charset="0"/>
                <a:sym typeface="Symbol" pitchFamily="18" charset="2"/>
              </a:rPr>
              <a:t>p</a:t>
            </a:r>
            <a:r>
              <a:rPr lang="en-US" sz="2000" b="1" dirty="0">
                <a:latin typeface="Bookman Old Style" pitchFamily="18" charset="0"/>
                <a:sym typeface="Symbol" pitchFamily="18" charset="2"/>
              </a:rPr>
              <a:t>  </a:t>
            </a:r>
            <a:r>
              <a:rPr lang="en-US" sz="2000" dirty="0">
                <a:sym typeface="Symbol" pitchFamily="18" charset="2"/>
              </a:rPr>
              <a:t>means</a:t>
            </a:r>
            <a:r>
              <a:rPr lang="en-US" sz="2000" dirty="0">
                <a:latin typeface="Bookman Old Style" pitchFamily="18" charset="0"/>
                <a:sym typeface="Symbol" pitchFamily="18" charset="2"/>
              </a:rPr>
              <a:t>  </a:t>
            </a:r>
            <a:r>
              <a:rPr lang="en-US" sz="2000" b="1" dirty="0">
                <a:latin typeface="Bookman Old Style" pitchFamily="18" charset="0"/>
                <a:sym typeface="Symbol" pitchFamily="18" charset="2"/>
              </a:rPr>
              <a:t>├ </a:t>
            </a:r>
            <a:r>
              <a:rPr lang="en-US" sz="2000" i="1" dirty="0">
                <a:latin typeface="Bookman Old Style" pitchFamily="18" charset="0"/>
              </a:rPr>
              <a:t>n</a:t>
            </a:r>
            <a:r>
              <a:rPr lang="en-US" sz="2000" dirty="0">
                <a:latin typeface="Bookman Old Style" pitchFamily="18" charset="0"/>
              </a:rPr>
              <a:t> </a:t>
            </a:r>
            <a:r>
              <a:rPr lang="en-US" sz="2000" b="1" dirty="0">
                <a:latin typeface="Bookman Old Style" pitchFamily="18" charset="0"/>
              </a:rPr>
              <a:t>=</a:t>
            </a:r>
            <a:r>
              <a:rPr lang="en-US" sz="2000" i="1" dirty="0">
                <a:latin typeface="Bookman Old Style" pitchFamily="18" charset="0"/>
              </a:rPr>
              <a:t> p</a:t>
            </a:r>
          </a:p>
          <a:p>
            <a:pPr marL="666750" lvl="1" indent="-282575" eaLnBrk="0" hangingPunct="0">
              <a:spcBef>
                <a:spcPct val="20000"/>
              </a:spcBef>
            </a:pPr>
            <a:r>
              <a:rPr lang="en-US" sz="2000" dirty="0"/>
              <a:t>Define</a:t>
            </a:r>
            <a:r>
              <a:rPr lang="en-US" sz="2000" i="1" dirty="0">
                <a:latin typeface="Bookman Old Style" pitchFamily="18" charset="0"/>
              </a:rPr>
              <a:t> </a:t>
            </a:r>
            <a:r>
              <a:rPr lang="en-US" sz="2000" b="1" dirty="0">
                <a:latin typeface="Bookman Old Style" pitchFamily="18" charset="0"/>
                <a:sym typeface="Symbol" pitchFamily="18" charset="2"/>
              </a:rPr>
              <a:t></a:t>
            </a:r>
            <a:r>
              <a:rPr lang="en-US" sz="2000" dirty="0">
                <a:latin typeface="Bookman Old Style" pitchFamily="18" charset="0"/>
                <a:sym typeface="Symbol" pitchFamily="18" charset="2"/>
              </a:rPr>
              <a:t>, </a:t>
            </a:r>
            <a:r>
              <a:rPr lang="en-US" sz="2000" b="1" dirty="0">
                <a:latin typeface="Bookman Old Style" pitchFamily="18" charset="0"/>
                <a:sym typeface="Symbol" pitchFamily="18" charset="2"/>
              </a:rPr>
              <a:t></a:t>
            </a:r>
            <a:r>
              <a:rPr lang="en-US" sz="2000" dirty="0">
                <a:latin typeface="Bookman Old Style" pitchFamily="18" charset="0"/>
                <a:sym typeface="Symbol" pitchFamily="18" charset="2"/>
              </a:rPr>
              <a:t>, </a:t>
            </a:r>
            <a:r>
              <a:rPr lang="en-US" sz="2000" dirty="0" err="1">
                <a:sym typeface="Symbol" pitchFamily="18" charset="2"/>
              </a:rPr>
              <a:t>etc</a:t>
            </a:r>
            <a:r>
              <a:rPr lang="en-US" sz="2000" dirty="0">
                <a:sym typeface="Symbol" pitchFamily="18" charset="2"/>
              </a:rPr>
              <a:t> by axioms</a:t>
            </a:r>
          </a:p>
          <a:p>
            <a:pPr marL="666750" lvl="1" indent="-282575" eaLnBrk="0" hangingPunct="0">
              <a:spcBef>
                <a:spcPct val="20000"/>
              </a:spcBef>
            </a:pPr>
            <a:r>
              <a:rPr lang="en-US" sz="2000" dirty="0">
                <a:sym typeface="Symbol" pitchFamily="18" charset="2"/>
              </a:rPr>
              <a:t>Add rules for function equality</a:t>
            </a:r>
          </a:p>
          <a:p>
            <a:pPr marL="666750" lvl="1" indent="-282575" eaLnBrk="0" hangingPunct="0">
              <a:spcBef>
                <a:spcPct val="20000"/>
              </a:spcBef>
            </a:pPr>
            <a:endParaRPr lang="en-US" sz="2000" dirty="0">
              <a:solidFill>
                <a:srgbClr val="FFFF00"/>
              </a:solidFill>
              <a:sym typeface="Symbol" pitchFamily="18" charset="2"/>
            </a:endParaRPr>
          </a:p>
          <a:p>
            <a:pPr marL="666750" lvl="1" indent="-282575" eaLnBrk="0" hangingPunct="0">
              <a:spcBef>
                <a:spcPct val="20000"/>
              </a:spcBef>
            </a:pPr>
            <a:r>
              <a:rPr lang="en-US" sz="2000" dirty="0" smtClean="0">
                <a:solidFill>
                  <a:srgbClr val="FF0000"/>
                </a:solidFill>
                <a:sym typeface="Symbol" pitchFamily="18" charset="2"/>
              </a:rPr>
              <a:t>Proof by evaluation</a:t>
            </a:r>
            <a:endParaRPr lang="en-US" sz="2000" dirty="0">
              <a:solidFill>
                <a:srgbClr val="FF0000"/>
              </a:solidFill>
            </a:endParaRPr>
          </a:p>
        </p:txBody>
      </p:sp>
      <p:grpSp>
        <p:nvGrpSpPr>
          <p:cNvPr id="20488" name="Group 13"/>
          <p:cNvGrpSpPr>
            <a:grpSpLocks/>
          </p:cNvGrpSpPr>
          <p:nvPr/>
        </p:nvGrpSpPr>
        <p:grpSpPr bwMode="auto">
          <a:xfrm>
            <a:off x="6400800" y="2039938"/>
            <a:ext cx="2438400" cy="1465262"/>
            <a:chOff x="4032" y="1285"/>
            <a:chExt cx="1536" cy="923"/>
          </a:xfrm>
        </p:grpSpPr>
        <p:sp>
          <p:nvSpPr>
            <p:cNvPr id="20489" name="Text Box 9"/>
            <p:cNvSpPr txBox="1">
              <a:spLocks noChangeArrowheads="1"/>
            </p:cNvSpPr>
            <p:nvPr/>
          </p:nvSpPr>
          <p:spPr bwMode="auto">
            <a:xfrm>
              <a:off x="4102" y="1285"/>
              <a:ext cx="1466" cy="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GB" dirty="0" err="1">
                  <a:solidFill>
                    <a:srgbClr val="FF0000"/>
                  </a:solidFill>
                  <a:sym typeface="Symbol" pitchFamily="18" charset="2"/>
                </a:rPr>
                <a:t>reFLect</a:t>
              </a:r>
              <a:endParaRPr lang="en-GB" dirty="0">
                <a:solidFill>
                  <a:srgbClr val="FF0000"/>
                </a:solidFill>
                <a:sym typeface="Symbol" pitchFamily="18" charset="2"/>
              </a:endParaRPr>
            </a:p>
            <a:p>
              <a:r>
                <a:rPr lang="en-GB" dirty="0">
                  <a:solidFill>
                    <a:srgbClr val="FFFF00"/>
                  </a:solidFill>
                  <a:sym typeface="Symbol" pitchFamily="18" charset="2"/>
                </a:rPr>
                <a:t>  </a:t>
              </a:r>
              <a:r>
                <a:rPr lang="en-GB" dirty="0">
                  <a:sym typeface="Symbol" pitchFamily="18" charset="2"/>
                </a:rPr>
                <a:t>+</a:t>
              </a:r>
            </a:p>
            <a:p>
              <a:r>
                <a:rPr lang="en-GB" dirty="0">
                  <a:sym typeface="Symbol" pitchFamily="18" charset="2"/>
                </a:rPr>
                <a:t>logical constants</a:t>
              </a:r>
            </a:p>
            <a:p>
              <a:r>
                <a:rPr lang="en-GB" dirty="0">
                  <a:sym typeface="Symbol" pitchFamily="18" charset="2"/>
                </a:rPr>
                <a:t>  +</a:t>
              </a:r>
            </a:p>
            <a:p>
              <a:r>
                <a:rPr lang="en-GB" dirty="0"/>
                <a:t>rules</a:t>
              </a:r>
            </a:p>
          </p:txBody>
        </p:sp>
        <p:sp>
          <p:nvSpPr>
            <p:cNvPr id="20490" name="AutoShape 12"/>
            <p:cNvSpPr>
              <a:spLocks/>
            </p:cNvSpPr>
            <p:nvPr/>
          </p:nvSpPr>
          <p:spPr bwMode="auto">
            <a:xfrm>
              <a:off x="4032" y="1344"/>
              <a:ext cx="68" cy="816"/>
            </a:xfrm>
            <a:prstGeom prst="leftBrace">
              <a:avLst>
                <a:gd name="adj1" fmla="val 100000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38005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Goaled Theorem </a:t>
            </a:r>
            <a:r>
              <a:rPr lang="en-US" dirty="0" err="1" smtClean="0"/>
              <a:t>Prover</a:t>
            </a:r>
            <a:endParaRPr lang="en-US" dirty="0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229600" cy="5257800"/>
          </a:xfrm>
        </p:spPr>
        <p:txBody>
          <a:bodyPr/>
          <a:lstStyle/>
          <a:p>
            <a:pPr eaLnBrk="1" hangingPunct="1"/>
            <a:r>
              <a:rPr lang="en-US" sz="2400" dirty="0" smtClean="0"/>
              <a:t>LCF-style implementation, following in the footsteps of HOL and HOL Light</a:t>
            </a:r>
          </a:p>
          <a:p>
            <a:pPr lvl="1" eaLnBrk="1" hangingPunct="1"/>
            <a:r>
              <a:rPr lang="en-US" sz="2000" dirty="0" err="1" smtClean="0"/>
              <a:t>Thm</a:t>
            </a:r>
            <a:r>
              <a:rPr lang="en-US" sz="2000" dirty="0" smtClean="0"/>
              <a:t> is a protected data type, constructible only through a small set of trusted function calls (a.k.a. inference rules)</a:t>
            </a:r>
          </a:p>
          <a:p>
            <a:pPr eaLnBrk="1" hangingPunct="1"/>
            <a:r>
              <a:rPr lang="en-US" sz="2400" dirty="0" smtClean="0"/>
              <a:t>Features driven by necessity</a:t>
            </a:r>
          </a:p>
          <a:p>
            <a:pPr lvl="1"/>
            <a:r>
              <a:rPr lang="en-US" sz="2000" dirty="0" smtClean="0"/>
              <a:t>Theories:  of </a:t>
            </a:r>
            <a:r>
              <a:rPr lang="en-US" sz="2000" dirty="0" err="1" smtClean="0"/>
              <a:t>reFLect</a:t>
            </a:r>
            <a:r>
              <a:rPr lang="en-US" sz="2000" dirty="0" smtClean="0"/>
              <a:t> data types, natural numbers, integers, </a:t>
            </a:r>
            <a:r>
              <a:rPr lang="en-US" sz="2000" dirty="0" err="1" smtClean="0"/>
              <a:t>rationals</a:t>
            </a:r>
            <a:r>
              <a:rPr lang="en-US" sz="2000" dirty="0" smtClean="0"/>
              <a:t>, </a:t>
            </a:r>
            <a:r>
              <a:rPr lang="en-US" sz="2000" dirty="0" smtClean="0"/>
              <a:t>lists</a:t>
            </a:r>
            <a:r>
              <a:rPr lang="en-US" sz="2000" dirty="0" smtClean="0"/>
              <a:t>, pairs, </a:t>
            </a:r>
            <a:r>
              <a:rPr lang="en-US" sz="2000" dirty="0" err="1" smtClean="0"/>
              <a:t>reFLect</a:t>
            </a:r>
            <a:r>
              <a:rPr lang="en-US" sz="2000" dirty="0" smtClean="0"/>
              <a:t> ADTs</a:t>
            </a:r>
          </a:p>
          <a:p>
            <a:pPr lvl="1"/>
            <a:r>
              <a:rPr lang="en-US" sz="2000" dirty="0" smtClean="0"/>
              <a:t>Proof automation: rewriting, first order solving, linear arithmetic</a:t>
            </a:r>
          </a:p>
          <a:p>
            <a:pPr lvl="1"/>
            <a:r>
              <a:rPr lang="en-US" sz="2000" dirty="0" err="1"/>
              <a:t>Bitstring</a:t>
            </a:r>
            <a:r>
              <a:rPr lang="en-US" sz="2000" dirty="0"/>
              <a:t> </a:t>
            </a:r>
            <a:r>
              <a:rPr lang="en-US" sz="2000" dirty="0" smtClean="0"/>
              <a:t>arithmetic</a:t>
            </a:r>
          </a:p>
          <a:p>
            <a:pPr lvl="1"/>
            <a:r>
              <a:rPr lang="en-US" sz="2000" dirty="0" smtClean="0"/>
              <a:t>Support for the reflect language extensions</a:t>
            </a:r>
            <a:endParaRPr lang="en-US" sz="2400" dirty="0" smtClean="0"/>
          </a:p>
          <a:p>
            <a:pPr lvl="1" eaLnBrk="1" hangingPunct="1"/>
            <a:endParaRPr lang="en-US" sz="2000" dirty="0" smtClean="0"/>
          </a:p>
          <a:p>
            <a:pPr marL="0" indent="0">
              <a:buNone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845153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last bit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An executable logic for writing the specs and verification scripts: </a:t>
            </a:r>
            <a:r>
              <a:rPr lang="en-US" dirty="0" err="1" smtClean="0">
                <a:solidFill>
                  <a:schemeClr val="bg2"/>
                </a:solidFill>
              </a:rPr>
              <a:t>reFLect</a:t>
            </a:r>
            <a:endParaRPr lang="en-US" dirty="0" smtClean="0">
              <a:solidFill>
                <a:schemeClr val="bg2"/>
              </a:solidFill>
            </a:endParaRPr>
          </a:p>
          <a:p>
            <a:r>
              <a:rPr lang="en-US" dirty="0" smtClean="0"/>
              <a:t>A symbolic simulator that admits relational specifications written in logic: </a:t>
            </a:r>
            <a:r>
              <a:rPr lang="en-US" dirty="0" err="1" smtClean="0">
                <a:solidFill>
                  <a:srgbClr val="FF0000"/>
                </a:solidFill>
              </a:rPr>
              <a:t>rSTE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chemeClr val="bg2"/>
                </a:solidFill>
              </a:rPr>
              <a:t>A tightly integrated theorem </a:t>
            </a:r>
            <a:r>
              <a:rPr lang="en-US" dirty="0" err="1" smtClean="0">
                <a:solidFill>
                  <a:schemeClr val="bg2"/>
                </a:solidFill>
              </a:rPr>
              <a:t>prover</a:t>
            </a:r>
            <a:r>
              <a:rPr lang="en-US" dirty="0" smtClean="0">
                <a:solidFill>
                  <a:schemeClr val="bg2"/>
                </a:solidFill>
              </a:rPr>
              <a:t> for executing the deductive proofs: Goaled</a:t>
            </a:r>
          </a:p>
        </p:txBody>
      </p:sp>
    </p:spTree>
    <p:extLst>
      <p:ext uri="{BB962C8B-B14F-4D97-AF65-F5344CB8AC3E}">
        <p14:creationId xmlns:p14="http://schemas.microsoft.com/office/powerpoint/2010/main" val="3707306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Limitations of STE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0" y="1600200"/>
            <a:ext cx="5638800" cy="45259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Trajectory assertion:</a:t>
            </a:r>
          </a:p>
          <a:p>
            <a:pPr lvl="1"/>
            <a:r>
              <a:rPr lang="en-US" dirty="0" err="1" smtClean="0"/>
              <a:t>ckt</a:t>
            </a:r>
            <a:r>
              <a:rPr lang="en-US" dirty="0" smtClean="0"/>
              <a:t> |= [[ S is v ==&gt;&gt; (</a:t>
            </a:r>
            <a:r>
              <a:rPr lang="en-US" dirty="0" err="1" smtClean="0"/>
              <a:t>BE</a:t>
            </a:r>
            <a:r>
              <a:rPr lang="en-US" baseline="-25000" dirty="0" err="1"/>
              <a:t>i</a:t>
            </a:r>
            <a:r>
              <a:rPr lang="en-US" dirty="0" smtClean="0"/>
              <a:t> is f</a:t>
            </a:r>
            <a:r>
              <a:rPr lang="en-US" baseline="-25000" dirty="0"/>
              <a:t>i</a:t>
            </a:r>
            <a:r>
              <a:rPr lang="en-US" dirty="0" smtClean="0"/>
              <a:t>(v)) ]]</a:t>
            </a:r>
          </a:p>
          <a:p>
            <a:endParaRPr lang="en-US" dirty="0" smtClean="0"/>
          </a:p>
          <a:p>
            <a:r>
              <a:rPr lang="en-US" dirty="0" smtClean="0"/>
              <a:t>But,</a:t>
            </a:r>
          </a:p>
          <a:p>
            <a:pPr lvl="1"/>
            <a:r>
              <a:rPr lang="en-US" dirty="0" smtClean="0"/>
              <a:t>You need a special purpose reasoning system for this special purpose logic</a:t>
            </a:r>
          </a:p>
          <a:p>
            <a:pPr lvl="1"/>
            <a:r>
              <a:rPr lang="en-US" dirty="0" smtClean="0"/>
              <a:t>Relational specifications cannot be expressed directly</a:t>
            </a:r>
          </a:p>
          <a:p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453695" y="1447800"/>
            <a:ext cx="2165395" cy="3395532"/>
            <a:chOff x="1419634" y="838200"/>
            <a:chExt cx="2165395" cy="3395532"/>
          </a:xfrm>
        </p:grpSpPr>
        <p:sp>
          <p:nvSpPr>
            <p:cNvPr id="4" name="Rectangle 6"/>
            <p:cNvSpPr>
              <a:spLocks noChangeArrowheads="1"/>
            </p:cNvSpPr>
            <p:nvPr/>
          </p:nvSpPr>
          <p:spPr bwMode="auto">
            <a:xfrm>
              <a:off x="1536393" y="2169836"/>
              <a:ext cx="1942488" cy="78412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</a:pPr>
              <a:endParaRPr lang="en-US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" name="Text Box 31"/>
            <p:cNvSpPr txBox="1">
              <a:spLocks noChangeArrowheads="1"/>
            </p:cNvSpPr>
            <p:nvPr/>
          </p:nvSpPr>
          <p:spPr bwMode="auto">
            <a:xfrm>
              <a:off x="1419634" y="2195388"/>
              <a:ext cx="2165395" cy="7330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 anchor="ctr"/>
            <a:lstStyle/>
            <a:p>
              <a:pPr algn="ctr" eaLnBrk="1" hangingPunct="1"/>
              <a:r>
                <a:rPr lang="en-US" sz="2400" dirty="0" smtClean="0">
                  <a:latin typeface="Courier New" pitchFamily="49" charset="0"/>
                  <a:cs typeface="Courier New" pitchFamily="49" charset="0"/>
                </a:rPr>
                <a:t>Booth </a:t>
              </a:r>
            </a:p>
            <a:p>
              <a:pPr algn="ctr" eaLnBrk="1" hangingPunct="1"/>
              <a:r>
                <a:rPr lang="en-US" sz="2400" dirty="0" smtClean="0">
                  <a:latin typeface="Courier New" pitchFamily="49" charset="0"/>
                  <a:cs typeface="Courier New" pitchFamily="49" charset="0"/>
                </a:rPr>
                <a:t>Encoder</a:t>
              </a:r>
              <a:endParaRPr lang="en-US" sz="6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6" name="Text Box 38"/>
            <p:cNvSpPr txBox="1">
              <a:spLocks noChangeArrowheads="1"/>
            </p:cNvSpPr>
            <p:nvPr/>
          </p:nvSpPr>
          <p:spPr bwMode="auto">
            <a:xfrm>
              <a:off x="2005863" y="838200"/>
              <a:ext cx="965937" cy="4237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/>
            <a:lstStyle/>
            <a:p>
              <a:pPr algn="ctr" eaLnBrk="1" hangingPunct="1"/>
              <a:r>
                <a:rPr lang="en-US" sz="2400" b="1" dirty="0" smtClean="0">
                  <a:latin typeface="Courier New" pitchFamily="49" charset="0"/>
                  <a:cs typeface="Courier New" pitchFamily="49" charset="0"/>
                </a:rPr>
                <a:t>S</a:t>
              </a:r>
              <a:endParaRPr lang="en-US" sz="2400" b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7" name="Line 14"/>
            <p:cNvSpPr>
              <a:spLocks noChangeShapeType="1"/>
            </p:cNvSpPr>
            <p:nvPr/>
          </p:nvSpPr>
          <p:spPr bwMode="auto">
            <a:xfrm>
              <a:off x="2514600" y="1371600"/>
              <a:ext cx="0" cy="7974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8" name="Line 14"/>
            <p:cNvSpPr>
              <a:spLocks noChangeShapeType="1"/>
            </p:cNvSpPr>
            <p:nvPr/>
          </p:nvSpPr>
          <p:spPr bwMode="auto">
            <a:xfrm>
              <a:off x="2514600" y="2971800"/>
              <a:ext cx="0" cy="7822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9" name="Line 14"/>
            <p:cNvSpPr>
              <a:spLocks noChangeShapeType="1"/>
            </p:cNvSpPr>
            <p:nvPr/>
          </p:nvSpPr>
          <p:spPr bwMode="auto">
            <a:xfrm>
              <a:off x="2895600" y="2971800"/>
              <a:ext cx="0" cy="7894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0" name="Line 14"/>
            <p:cNvSpPr>
              <a:spLocks noChangeShapeType="1"/>
            </p:cNvSpPr>
            <p:nvPr/>
          </p:nvSpPr>
          <p:spPr bwMode="auto">
            <a:xfrm>
              <a:off x="2133600" y="2971800"/>
              <a:ext cx="0" cy="7894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1" name="Text Box 38"/>
            <p:cNvSpPr txBox="1">
              <a:spLocks noChangeArrowheads="1"/>
            </p:cNvSpPr>
            <p:nvPr/>
          </p:nvSpPr>
          <p:spPr bwMode="auto">
            <a:xfrm>
              <a:off x="1803031" y="3810000"/>
              <a:ext cx="1423137" cy="4237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/>
            <a:lstStyle/>
            <a:p>
              <a:pPr algn="ctr" eaLnBrk="1" hangingPunct="1"/>
              <a:r>
                <a:rPr lang="en-US" sz="2400" b="1" dirty="0" err="1" smtClean="0">
                  <a:latin typeface="Courier New" pitchFamily="49" charset="0"/>
                  <a:cs typeface="Courier New" pitchFamily="49" charset="0"/>
                </a:rPr>
                <a:t>BE</a:t>
              </a:r>
              <a:r>
                <a:rPr lang="en-US" sz="2400" b="1" baseline="-25000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endParaRPr lang="en-US" sz="2400" b="1" dirty="0">
                <a:latin typeface="Courier New" pitchFamily="49" charset="0"/>
                <a:cs typeface="Courier New" pitchFamily="49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28600" y="5029200"/>
                <a:ext cx="2675730" cy="11311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𝑆</m:t>
                      </m:r>
                      <m:r>
                        <a:rPr lang="en-US" sz="2400" i="1">
                          <a:latin typeface="Cambria Math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/>
                            </a:rPr>
                            <m:t>𝑖</m:t>
                          </m:r>
                          <m:r>
                            <a:rPr lang="en-US" sz="2400" i="1">
                              <a:latin typeface="Cambria Math"/>
                            </a:rPr>
                            <m:t>=</m:t>
                          </m:r>
                          <m:r>
                            <a:rPr lang="en-US" sz="2400" i="1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2400" i="1">
                              <a:latin typeface="Cambria Math"/>
                            </a:rPr>
                            <m:t>𝑁</m:t>
                          </m:r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𝐵𝐸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𝑘𝑖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5029200"/>
                <a:ext cx="2675730" cy="113114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3100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Relational STE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STE’s antecedent and consequent are replaced with lists of constraints</a:t>
            </a:r>
          </a:p>
          <a:p>
            <a:pPr lvl="1"/>
            <a:r>
              <a:rPr lang="en-US" dirty="0"/>
              <a:t>A constraint is a relationship between a finite set of circuit </a:t>
            </a:r>
            <a:r>
              <a:rPr lang="en-US" dirty="0" smtClean="0"/>
              <a:t>nodes </a:t>
            </a:r>
            <a:r>
              <a:rPr lang="en-US" dirty="0"/>
              <a:t>at specified points in time</a:t>
            </a:r>
            <a:endParaRPr lang="en-US" dirty="0" smtClean="0"/>
          </a:p>
          <a:p>
            <a:r>
              <a:rPr lang="en-US" dirty="0" smtClean="0"/>
              <a:t>Idea: </a:t>
            </a:r>
          </a:p>
          <a:p>
            <a:pPr lvl="1"/>
            <a:r>
              <a:rPr lang="en-US" i="1" dirty="0" err="1" smtClean="0"/>
              <a:t>rSTE</a:t>
            </a:r>
            <a:r>
              <a:rPr lang="en-US" i="1" dirty="0" smtClean="0"/>
              <a:t> </a:t>
            </a:r>
            <a:r>
              <a:rPr lang="en-US" i="1" dirty="0" err="1" smtClean="0"/>
              <a:t>ckt</a:t>
            </a:r>
            <a:r>
              <a:rPr lang="en-US" i="1" dirty="0" smtClean="0"/>
              <a:t> </a:t>
            </a:r>
            <a:r>
              <a:rPr lang="en-US" i="1" dirty="0" err="1" smtClean="0"/>
              <a:t>cin</a:t>
            </a:r>
            <a:r>
              <a:rPr lang="en-US" i="1" dirty="0" smtClean="0"/>
              <a:t> </a:t>
            </a:r>
            <a:r>
              <a:rPr lang="en-US" i="1" dirty="0" err="1" smtClean="0"/>
              <a:t>cout</a:t>
            </a:r>
            <a:r>
              <a:rPr lang="en-US" i="1" dirty="0" smtClean="0"/>
              <a:t> </a:t>
            </a:r>
            <a:r>
              <a:rPr lang="en-US" dirty="0" smtClean="0"/>
              <a:t>means “In any behavior of </a:t>
            </a:r>
            <a:r>
              <a:rPr lang="en-US" i="1" dirty="0" err="1" smtClean="0"/>
              <a:t>ckt</a:t>
            </a:r>
            <a:r>
              <a:rPr lang="en-US" dirty="0" smtClean="0"/>
              <a:t> in which all of the constraints </a:t>
            </a:r>
            <a:r>
              <a:rPr lang="en-US" i="1" dirty="0" err="1" smtClean="0"/>
              <a:t>cin</a:t>
            </a:r>
            <a:r>
              <a:rPr lang="en-US" dirty="0" smtClean="0"/>
              <a:t> hold, all of the constraints </a:t>
            </a:r>
            <a:r>
              <a:rPr lang="en-US" i="1" dirty="0" err="1" smtClean="0"/>
              <a:t>cout</a:t>
            </a:r>
            <a:r>
              <a:rPr lang="en-US" dirty="0" smtClean="0"/>
              <a:t> hold”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698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Relational STE Intuition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4648200"/>
                <a:ext cx="8229600" cy="1477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 err="1" smtClean="0"/>
                  <a:t>rSTE</a:t>
                </a:r>
                <a:r>
                  <a:rPr lang="en-US" sz="2800" dirty="0" smtClean="0"/>
                  <a:t> </a:t>
                </a:r>
                <a:r>
                  <a:rPr lang="en-US" sz="2800" dirty="0" err="1" smtClean="0"/>
                  <a:t>ckt</a:t>
                </a:r>
                <a:r>
                  <a:rPr lang="en-US" sz="2800" dirty="0" smtClean="0"/>
                  <a:t> </a:t>
                </a:r>
              </a:p>
              <a:p>
                <a:pPr marL="0" indent="0">
                  <a:buNone/>
                </a:pPr>
                <a:r>
                  <a:rPr lang="en-US" sz="2800" dirty="0"/>
                  <a:t> </a:t>
                </a:r>
                <a:r>
                  <a:rPr lang="en-US" sz="2800" dirty="0" smtClean="0"/>
                  <a:t>   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B050"/>
                        </a:solidFill>
                        <a:latin typeface="Cambria Math"/>
                      </a:rPr>
                      <m:t>"!(</m:t>
                    </m:r>
                    <m:r>
                      <a:rPr lang="en-US" sz="2800" i="1">
                        <a:solidFill>
                          <a:srgbClr val="00B050"/>
                        </a:solidFill>
                        <a:latin typeface="Cambria Math"/>
                      </a:rPr>
                      <m:t>𝑐𝑖</m:t>
                    </m:r>
                    <m:r>
                      <a:rPr lang="en-US" sz="2800" i="1">
                        <a:solidFill>
                          <a:srgbClr val="00B050"/>
                        </a:solidFill>
                        <a:latin typeface="Cambria Math"/>
                      </a:rPr>
                      <m:t>, 1)"</m:t>
                    </m:r>
                  </m:oMath>
                </a14:m>
                <a:r>
                  <a:rPr lang="en-US" sz="2800" dirty="0" smtClean="0"/>
                  <a:t>] 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FF0000"/>
                        </a:solidFill>
                        <a:latin typeface="Cambria Math"/>
                      </a:rPr>
                      <m:t>"</m:t>
                    </m:r>
                    <m:d>
                      <m:d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𝑎</m:t>
                        </m:r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,1</m:t>
                        </m:r>
                      </m:e>
                    </m:d>
                    <m:r>
                      <a:rPr lang="en-US" sz="2800" i="1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d>
                      <m:d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𝑏</m:t>
                        </m:r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,1</m:t>
                        </m:r>
                      </m:e>
                    </m:d>
                    <m:r>
                      <a:rPr lang="en-US" sz="2800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𝑠</m:t>
                        </m:r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,2</m:t>
                        </m:r>
                      </m:e>
                    </m:d>
                    <m:r>
                      <a:rPr lang="en-US" sz="2800" i="1">
                        <a:solidFill>
                          <a:srgbClr val="FF0000"/>
                        </a:solidFill>
                        <a:latin typeface="Cambria Math"/>
                      </a:rPr>
                      <m:t>+2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×(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𝑐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,2)"</m:t>
                    </m:r>
                  </m:oMath>
                </a14:m>
                <a:r>
                  <a:rPr lang="en-US" sz="2800" dirty="0" smtClean="0"/>
                  <a:t>]</a:t>
                </a: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4648200"/>
                <a:ext cx="8229600" cy="1477963"/>
              </a:xfrm>
              <a:blipFill rotWithShape="1">
                <a:blip r:embed="rId2"/>
                <a:stretch>
                  <a:fillRect l="-1481" t="-37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/>
          <p:cNvCxnSpPr/>
          <p:nvPr/>
        </p:nvCxnSpPr>
        <p:spPr>
          <a:xfrm>
            <a:off x="4343400" y="1948934"/>
            <a:ext cx="106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343400" y="2177534"/>
            <a:ext cx="106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486400" y="2177534"/>
            <a:ext cx="106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629400" y="1948934"/>
            <a:ext cx="106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629400" y="2177534"/>
            <a:ext cx="106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343400" y="2329934"/>
            <a:ext cx="106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343400" y="2558534"/>
            <a:ext cx="106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486400" y="2329934"/>
            <a:ext cx="106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486400" y="2558534"/>
            <a:ext cx="106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6629400" y="2329934"/>
            <a:ext cx="106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629400" y="2558534"/>
            <a:ext cx="106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410200" y="1948934"/>
            <a:ext cx="762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6553200" y="1948934"/>
            <a:ext cx="762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5410200" y="2063234"/>
            <a:ext cx="38100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 flipV="1">
            <a:off x="6591300" y="2063234"/>
            <a:ext cx="38100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5410200" y="2329934"/>
            <a:ext cx="762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410200" y="2329934"/>
            <a:ext cx="762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6553200" y="2329934"/>
            <a:ext cx="762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6553200" y="2329934"/>
            <a:ext cx="762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4343400" y="2710934"/>
            <a:ext cx="106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4343400" y="2939534"/>
            <a:ext cx="106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5486400" y="2710934"/>
            <a:ext cx="106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5486400" y="2939534"/>
            <a:ext cx="106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6629400" y="2710934"/>
            <a:ext cx="106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6629400" y="2939534"/>
            <a:ext cx="106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5410200" y="2710934"/>
            <a:ext cx="762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5410200" y="2710934"/>
            <a:ext cx="762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6553200" y="2710934"/>
            <a:ext cx="762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6553200" y="2710934"/>
            <a:ext cx="762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4343400" y="3091934"/>
            <a:ext cx="2209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6629400" y="3091934"/>
            <a:ext cx="106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6629400" y="3320534"/>
            <a:ext cx="106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6553200" y="3091934"/>
            <a:ext cx="762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6553200" y="3091934"/>
            <a:ext cx="762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6629400" y="3472934"/>
            <a:ext cx="106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6629400" y="3701534"/>
            <a:ext cx="106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6553200" y="3472934"/>
            <a:ext cx="762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6553200" y="3472934"/>
            <a:ext cx="762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4343400" y="3320534"/>
            <a:ext cx="2209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4343400" y="3472934"/>
            <a:ext cx="2209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4343400" y="3701534"/>
            <a:ext cx="2209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5604013" y="1884402"/>
                <a:ext cx="8315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𝑐𝑖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,1)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4013" y="1884402"/>
                <a:ext cx="831574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5645426" y="2265402"/>
                <a:ext cx="7786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,1)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426" y="2265402"/>
                <a:ext cx="778611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638800" y="2646402"/>
                <a:ext cx="7748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𝑏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,1)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2646402"/>
                <a:ext cx="774827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6768973" y="3027402"/>
                <a:ext cx="756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,2)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8973" y="3027402"/>
                <a:ext cx="756874" cy="369332"/>
              </a:xfrm>
              <a:prstGeom prst="rect">
                <a:avLst/>
              </a:prstGeom>
              <a:blipFill rotWithShape="1"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6781800" y="3408402"/>
                <a:ext cx="757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𝑐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,2)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0" y="3408402"/>
                <a:ext cx="757836" cy="369332"/>
              </a:xfrm>
              <a:prstGeom prst="rect">
                <a:avLst/>
              </a:prstGeom>
              <a:blipFill rotWithShape="1"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Rectangle 73"/>
          <p:cNvSpPr/>
          <p:nvPr/>
        </p:nvSpPr>
        <p:spPr>
          <a:xfrm>
            <a:off x="1600200" y="2450068"/>
            <a:ext cx="76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Full</a:t>
            </a:r>
            <a:br>
              <a:rPr lang="en-US" sz="2400" dirty="0" smtClean="0"/>
            </a:br>
            <a:r>
              <a:rPr lang="en-US" sz="2400" dirty="0" smtClean="0"/>
              <a:t>Add</a:t>
            </a:r>
            <a:endParaRPr lang="en-US" sz="2400" dirty="0"/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1143000" y="2590800"/>
            <a:ext cx="457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1143000" y="3048000"/>
            <a:ext cx="457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2362200" y="2819400"/>
            <a:ext cx="838200" cy="116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endCxn id="74" idx="0"/>
          </p:cNvCxnSpPr>
          <p:nvPr/>
        </p:nvCxnSpPr>
        <p:spPr>
          <a:xfrm>
            <a:off x="1981200" y="2069068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>
            <a:off x="1981200" y="3593068"/>
            <a:ext cx="1219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>
            <a:stCxn id="74" idx="2"/>
          </p:cNvCxnSpPr>
          <p:nvPr/>
        </p:nvCxnSpPr>
        <p:spPr>
          <a:xfrm>
            <a:off x="1981200" y="3212068"/>
            <a:ext cx="0" cy="369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/>
          <p:nvPr/>
        </p:nvCxnSpPr>
        <p:spPr>
          <a:xfrm>
            <a:off x="2743200" y="2057400"/>
            <a:ext cx="0" cy="191821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1828800" y="1676400"/>
            <a:ext cx="33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ci</a:t>
            </a:r>
            <a:endParaRPr lang="en-US" dirty="0"/>
          </a:p>
        </p:txBody>
      </p:sp>
      <p:sp>
        <p:nvSpPr>
          <p:cNvPr id="96" name="TextBox 95"/>
          <p:cNvSpPr txBox="1"/>
          <p:nvPr/>
        </p:nvSpPr>
        <p:spPr>
          <a:xfrm>
            <a:off x="817563" y="2406134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97" name="TextBox 96"/>
          <p:cNvSpPr txBox="1"/>
          <p:nvPr/>
        </p:nvSpPr>
        <p:spPr>
          <a:xfrm>
            <a:off x="817563" y="286333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98" name="TextBox 97"/>
          <p:cNvSpPr txBox="1"/>
          <p:nvPr/>
        </p:nvSpPr>
        <p:spPr>
          <a:xfrm>
            <a:off x="3200400" y="2640568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</a:t>
            </a:r>
            <a:endParaRPr lang="en-US" dirty="0"/>
          </a:p>
        </p:txBody>
      </p:sp>
      <p:sp>
        <p:nvSpPr>
          <p:cNvPr id="99" name="TextBox 98"/>
          <p:cNvSpPr txBox="1"/>
          <p:nvPr/>
        </p:nvSpPr>
        <p:spPr>
          <a:xfrm>
            <a:off x="3214625" y="3433802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721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Constraints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A constraint c has three components:</a:t>
                </a:r>
              </a:p>
              <a:p>
                <a:pPr lvl="1"/>
                <a:r>
                  <a:rPr lang="en-US" dirty="0"/>
                  <a:t>name(c) : </a:t>
                </a:r>
                <a:r>
                  <a:rPr lang="en-US" i="1" dirty="0">
                    <a:latin typeface="Cambria Math" pitchFamily="18" charset="0"/>
                    <a:ea typeface="Cambria Math" pitchFamily="18" charset="0"/>
                  </a:rPr>
                  <a:t>string</a:t>
                </a:r>
              </a:p>
              <a:p>
                <a:pPr lvl="1"/>
                <a:r>
                  <a:rPr lang="en-US" dirty="0"/>
                  <a:t>sig(c) 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𝑠𝑡𝑟𝑖𝑛𝑔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𝑛𝑢𝑚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)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𝑙𝑖𝑠𝑡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 err="1"/>
                  <a:t>pred</a:t>
                </a:r>
                <a:r>
                  <a:rPr lang="en-US" dirty="0"/>
                  <a:t>(c) 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𝑠𝑡𝑟𝑖𝑛𝑔</m:t>
                            </m:r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×</m:t>
                            </m:r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𝑛𝑢𝑚</m:t>
                            </m:r>
                          </m:e>
                        </m:d>
                        <m:r>
                          <a:rPr lang="en-US" i="1">
                            <a:latin typeface="Cambria Math"/>
                            <a:ea typeface="Cambria Math"/>
                          </a:rPr>
                          <m:t>→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𝑏𝑜𝑜𝑙</m:t>
                        </m:r>
                      </m:e>
                    </m:d>
                    <m:r>
                      <a:rPr lang="en-US" i="1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𝑏𝑜𝑜𝑙</m:t>
                    </m:r>
                  </m:oMath>
                </a14:m>
                <a:endParaRPr lang="en-US" dirty="0">
                  <a:ea typeface="Cambria Math"/>
                </a:endParaRPr>
              </a:p>
              <a:p>
                <a:endParaRPr lang="en-US" dirty="0" smtClean="0"/>
              </a:p>
              <a:p>
                <a:r>
                  <a:rPr lang="en-US" dirty="0" smtClean="0"/>
                  <a:t>The </a:t>
                </a:r>
                <a:r>
                  <a:rPr lang="en-US" dirty="0"/>
                  <a:t>behavior of the circuit </a:t>
                </a:r>
                <a:r>
                  <a:rPr lang="en-US" dirty="0" smtClean="0"/>
                  <a:t>is also formulated as a constraint:</a:t>
                </a: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⟦"/>
                          <m:endChr m:val="⟧"/>
                          <m:ctrlPr>
                            <a:rPr lang="en-US" sz="28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𝑐𝑘𝑡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 : ((</m:t>
                      </m:r>
                      <m:r>
                        <a:rPr lang="en-US" sz="2800" i="1">
                          <a:latin typeface="Cambria Math"/>
                        </a:rPr>
                        <m:t>𝑠𝑡𝑟𝑖𝑛𝑔</m:t>
                      </m:r>
                      <m:r>
                        <a:rPr lang="en-US" sz="2800" i="1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2800" i="1">
                          <a:latin typeface="Cambria Math"/>
                          <a:ea typeface="Cambria Math"/>
                        </a:rPr>
                        <m:t>𝑛𝑢𝑚</m:t>
                      </m:r>
                      <m:r>
                        <a:rPr lang="en-US" sz="2800" i="1">
                          <a:latin typeface="Cambria Math"/>
                          <a:ea typeface="Cambria Math"/>
                        </a:rPr>
                        <m:t>)→</m:t>
                      </m:r>
                      <m:r>
                        <a:rPr lang="en-US" sz="2800" i="1">
                          <a:latin typeface="Cambria Math"/>
                        </a:rPr>
                        <m:t>𝑏𝑜𝑜𝑙</m:t>
                      </m:r>
                      <m:r>
                        <a:rPr lang="en-US" sz="2800" i="1">
                          <a:latin typeface="Cambria Math"/>
                        </a:rPr>
                        <m:t>)→</m:t>
                      </m:r>
                      <m:r>
                        <a:rPr lang="en-US" sz="2800" i="1">
                          <a:latin typeface="Cambria Math"/>
                        </a:rPr>
                        <m:t>𝑏𝑜𝑜𝑙</m:t>
                      </m:r>
                    </m:oMath>
                  </m:oMathPara>
                </a14:m>
                <a:endParaRPr lang="en-US" sz="2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4470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From Relational STE to Logic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dirty="0" smtClean="0">
                    <a:ea typeface="Cambria Math"/>
                  </a:rPr>
                  <a:t>Theorem:</a:t>
                </a:r>
              </a:p>
              <a:p>
                <a:endParaRPr lang="en-US" i="1" dirty="0">
                  <a:latin typeface="Cambria Math"/>
                  <a:ea typeface="Cambria Math"/>
                </a:endParaRPr>
              </a:p>
              <a:p>
                <a:pPr>
                  <a:buFont typeface="Cambria Math" pitchFamily="18" charset="0"/>
                  <a:buChar char=" 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𝑐𝑘𝑡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𝑐𝑖𝑛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𝑐𝑜𝑢𝑡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. </m:t>
                    </m:r>
                  </m:oMath>
                </a14:m>
                <a:endParaRPr lang="en-US" b="0" i="1" dirty="0" smtClean="0">
                  <a:latin typeface="Cambria Math"/>
                  <a:ea typeface="Cambria Math"/>
                </a:endParaRPr>
              </a:p>
              <a:p>
                <a:pPr lvl="1">
                  <a:buFont typeface="Cambria Math" pitchFamily="18" charset="0"/>
                  <a:buChar char=" 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/>
                        <a:ea typeface="Cambria Math"/>
                      </a:rPr>
                      <m:t>𝑟𝑆𝑇𝐸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𝑐𝑘𝑡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𝑐𝑖𝑛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𝑐𝑜𝑢𝑡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⇒ </m:t>
                    </m:r>
                  </m:oMath>
                </a14:m>
                <a:endParaRPr lang="en-US" sz="3200" b="0" i="1" dirty="0" smtClean="0">
                  <a:latin typeface="Cambria Math"/>
                  <a:ea typeface="Cambria Math"/>
                </a:endParaRPr>
              </a:p>
              <a:p>
                <a:pPr lvl="2">
                  <a:buFont typeface="Cambria Math" pitchFamily="18" charset="0"/>
                  <a:buChar char=" 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. </m:t>
                    </m:r>
                    <m:d>
                      <m:dPr>
                        <m:begChr m:val="⟦"/>
                        <m:endChr m:val="⟧"/>
                        <m:ctrlPr>
                          <a:rPr lang="en-US" sz="32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/>
                            <a:ea typeface="Cambria Math"/>
                          </a:rPr>
                          <m:t>𝑐𝑘𝑡</m:t>
                        </m:r>
                      </m:e>
                    </m:d>
                    <m:r>
                      <a:rPr lang="en-US" sz="3200" b="0" i="1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⇒</m:t>
                    </m:r>
                  </m:oMath>
                </a14:m>
                <a:endParaRPr lang="en-US" sz="3200" b="0" i="1" dirty="0" smtClean="0">
                  <a:latin typeface="Cambria Math"/>
                  <a:ea typeface="Cambria Math"/>
                </a:endParaRPr>
              </a:p>
              <a:p>
                <a:pPr lvl="3">
                  <a:buFont typeface="Cambria Math" pitchFamily="18" charset="0"/>
                  <a:buChar char=" 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/>
                        <a:ea typeface="Cambria Math"/>
                      </a:rPr>
                      <m:t>𝑝𝑟𝑒𝑑𝑙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𝑐𝑖𝑛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⇒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𝑝𝑟𝑒𝑑𝑙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𝑐𝑜𝑢𝑡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𝑐</m:t>
                    </m:r>
                  </m:oMath>
                </a14:m>
                <a:endParaRPr lang="en-US" sz="3200" b="0" dirty="0" smtClean="0">
                  <a:ea typeface="Cambria Math"/>
                </a:endParaRPr>
              </a:p>
              <a:p>
                <a:endParaRPr lang="en-US" dirty="0" smtClean="0"/>
              </a:p>
              <a:p>
                <a:r>
                  <a:rPr lang="en-US" dirty="0" smtClean="0"/>
                  <a:t>For </a:t>
                </a:r>
                <a:r>
                  <a:rPr lang="en-US" dirty="0"/>
                  <a:t>lists of constraints,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600" i="1">
                        <a:latin typeface="Cambria Math"/>
                      </a:rPr>
                      <m:t>𝑝𝑟𝑒𝑑𝑙</m:t>
                    </m:r>
                    <m:r>
                      <a:rPr lang="en-US" sz="2600" i="1">
                        <a:latin typeface="Cambria Math"/>
                      </a:rPr>
                      <m:t> [] </m:t>
                    </m:r>
                    <m:r>
                      <a:rPr lang="en-US" sz="2600" i="1">
                        <a:latin typeface="Cambria Math"/>
                      </a:rPr>
                      <m:t>𝑒</m:t>
                    </m:r>
                    <m:r>
                      <a:rPr lang="en-US" sz="2600" i="1">
                        <a:latin typeface="Cambria Math"/>
                      </a:rPr>
                      <m:t> ≜</m:t>
                    </m:r>
                    <m:r>
                      <a:rPr lang="en-US" sz="2600" i="1">
                        <a:latin typeface="Cambria Math"/>
                      </a:rPr>
                      <m:t>𝑇</m:t>
                    </m:r>
                  </m:oMath>
                </a14:m>
                <a:endParaRPr lang="en-US" sz="2600" i="1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sz="2600" i="1">
                        <a:latin typeface="Cambria Math"/>
                      </a:rPr>
                      <m:t>𝑝𝑟𝑒𝑑𝑙</m:t>
                    </m:r>
                    <m:r>
                      <a:rPr lang="en-US" sz="2600" i="1">
                        <a:latin typeface="Cambria Math"/>
                      </a:rPr>
                      <m:t> (</m:t>
                    </m:r>
                    <m:r>
                      <a:rPr lang="en-US" sz="2600" i="1">
                        <a:latin typeface="Cambria Math"/>
                      </a:rPr>
                      <m:t>𝑐</m:t>
                    </m:r>
                    <m:r>
                      <a:rPr lang="en-US" sz="2600" i="1">
                        <a:latin typeface="Cambria Math"/>
                      </a:rPr>
                      <m:t>::</m:t>
                    </m:r>
                    <m:r>
                      <a:rPr lang="en-US" sz="2600" i="1">
                        <a:latin typeface="Cambria Math"/>
                      </a:rPr>
                      <m:t>𝑐𝑠</m:t>
                    </m:r>
                    <m:r>
                      <a:rPr lang="en-US" sz="2600" i="1">
                        <a:latin typeface="Cambria Math"/>
                      </a:rPr>
                      <m:t>) </m:t>
                    </m:r>
                    <m:r>
                      <a:rPr lang="en-US" sz="2600" i="1">
                        <a:latin typeface="Cambria Math"/>
                      </a:rPr>
                      <m:t>𝑒</m:t>
                    </m:r>
                    <m:r>
                      <a:rPr lang="en-US" sz="2600" i="1">
                        <a:latin typeface="Cambria Math"/>
                      </a:rPr>
                      <m:t> ≜ </m:t>
                    </m:r>
                    <m:r>
                      <a:rPr lang="en-US" sz="2600" i="1">
                        <a:latin typeface="Cambria Math"/>
                      </a:rPr>
                      <m:t>𝑝𝑟𝑒𝑑</m:t>
                    </m:r>
                    <m:r>
                      <a:rPr lang="en-US" sz="2600" i="1">
                        <a:latin typeface="Cambria Math"/>
                      </a:rPr>
                      <m:t>(</m:t>
                    </m:r>
                    <m:r>
                      <a:rPr lang="en-US" sz="2600" i="1">
                        <a:latin typeface="Cambria Math"/>
                      </a:rPr>
                      <m:t>𝑐</m:t>
                    </m:r>
                    <m:r>
                      <a:rPr lang="en-US" sz="2600" i="1">
                        <a:latin typeface="Cambria Math"/>
                      </a:rPr>
                      <m:t>) </m:t>
                    </m:r>
                    <m:r>
                      <a:rPr lang="en-US" sz="2600" i="1">
                        <a:latin typeface="Cambria Math"/>
                      </a:rPr>
                      <m:t>𝑒</m:t>
                    </m:r>
                    <m:r>
                      <a:rPr lang="en-US" sz="2600" i="1">
                        <a:latin typeface="Cambria Math"/>
                      </a:rPr>
                      <m:t> ∧ </m:t>
                    </m:r>
                    <m:r>
                      <a:rPr lang="en-US" sz="2600" i="1">
                        <a:latin typeface="Cambria Math"/>
                        <a:ea typeface="Cambria Math"/>
                      </a:rPr>
                      <m:t>𝑝𝑟𝑒𝑑𝑙</m:t>
                    </m:r>
                    <m:r>
                      <a:rPr lang="en-US" sz="2600" i="1"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2600" i="1">
                        <a:latin typeface="Cambria Math"/>
                      </a:rPr>
                      <m:t>𝑐𝑠</m:t>
                    </m:r>
                    <m:r>
                      <a:rPr lang="en-US" sz="2600" i="1">
                        <a:latin typeface="Cambria Math"/>
                      </a:rPr>
                      <m:t>) </m:t>
                    </m:r>
                    <m:r>
                      <a:rPr lang="en-US" sz="2600" i="1">
                        <a:latin typeface="Cambria Math"/>
                      </a:rPr>
                      <m:t>𝑒</m:t>
                    </m:r>
                  </m:oMath>
                </a14:m>
                <a:endParaRPr lang="en-US" dirty="0"/>
              </a:p>
              <a:p>
                <a:pPr lvl="3">
                  <a:buFont typeface="Cambria Math" pitchFamily="18" charset="0"/>
                  <a:buChar char=" "/>
                </a:pPr>
                <a:endParaRPr lang="en-US" sz="3200" b="0" dirty="0" smtClean="0">
                  <a:ea typeface="Cambria Math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85" t="-2022" b="-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844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Relational STE in Action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743200" y="1600200"/>
                <a:ext cx="6400800" cy="4525963"/>
              </a:xfrm>
            </p:spPr>
            <p:txBody>
              <a:bodyPr>
                <a:normAutofit/>
              </a:bodyPr>
              <a:lstStyle/>
              <a:p>
                <a:r>
                  <a:rPr lang="en-US" b="0" dirty="0" smtClean="0"/>
                  <a:t>Define </a:t>
                </a:r>
                <a:r>
                  <a:rPr lang="en-US" b="0" i="1" dirty="0" err="1" smtClean="0">
                    <a:latin typeface="Cambria Math" pitchFamily="18" charset="0"/>
                    <a:ea typeface="Cambria Math" pitchFamily="18" charset="0"/>
                  </a:rPr>
                  <a:t>boothc</a:t>
                </a:r>
                <a:r>
                  <a:rPr lang="en-US" b="0" dirty="0" smtClean="0"/>
                  <a:t> such that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𝑝𝑟𝑒𝑑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𝑏𝑜𝑜𝑡</m:t>
                        </m:r>
                        <m:r>
                          <a:rPr lang="en-US" b="0" i="1" smtClean="0">
                            <a:latin typeface="Cambria Math"/>
                          </a:rPr>
                          <m:t>h</m:t>
                        </m:r>
                        <m:r>
                          <a:rPr lang="en-US" b="0" i="1" smtClean="0">
                            <a:latin typeface="Cambria Math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𝜆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𝑒𝑞𝑛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2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b="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𝑒𝑞𝑛</m:t>
                    </m:r>
                    <m:r>
                      <a:rPr lang="en-US" b="0" i="1" smtClean="0">
                        <a:latin typeface="Cambria Math"/>
                      </a:rPr>
                      <m:t>1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)≜(</m:t>
                    </m:r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/>
                          </a:rPr>
                          <m:t>𝑖</m:t>
                        </m:r>
                        <m:r>
                          <a:rPr lang="en-US" b="0" i="1" smtClean="0">
                            <a:latin typeface="Cambria Math"/>
                          </a:rPr>
                          <m:t>=</m:t>
                        </m:r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/>
                          </a:rPr>
                          <m:t>𝑁</m:t>
                        </m:r>
                        <m:r>
                          <a:rPr lang="en-US" b="0" i="1" smtClean="0">
                            <a:latin typeface="Cambria Math"/>
                          </a:rPr>
                          <m:t>−</m:t>
                        </m:r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𝐵𝐸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  <m:r>
                          <a:rPr lang="en-US" b="0" i="1" smtClean="0">
                            <a:latin typeface="Cambria Math"/>
                          </a:rPr>
                          <m:t>)×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𝑘𝑖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 smtClean="0"/>
                  <a:t>)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Then, </a:t>
                </a:r>
                <a:r>
                  <a:rPr lang="en-US" i="1" dirty="0" err="1" smtClean="0">
                    <a:latin typeface="Cambria Math" pitchFamily="18" charset="0"/>
                    <a:ea typeface="Cambria Math" pitchFamily="18" charset="0"/>
                  </a:rPr>
                  <a:t>rSTE</a:t>
                </a:r>
                <a:r>
                  <a:rPr lang="en-US" i="1" dirty="0" smtClean="0">
                    <a:latin typeface="Cambria Math" pitchFamily="18" charset="0"/>
                    <a:ea typeface="Cambria Math" pitchFamily="18" charset="0"/>
                  </a:rPr>
                  <a:t> </a:t>
                </a:r>
                <a:r>
                  <a:rPr lang="en-US" i="1" dirty="0" err="1" smtClean="0">
                    <a:latin typeface="Cambria Math" pitchFamily="18" charset="0"/>
                    <a:ea typeface="Cambria Math" pitchFamily="18" charset="0"/>
                  </a:rPr>
                  <a:t>ckt</a:t>
                </a:r>
                <a:r>
                  <a:rPr lang="en-US" i="1" dirty="0" smtClean="0">
                    <a:latin typeface="Cambria Math" pitchFamily="18" charset="0"/>
                    <a:ea typeface="Cambria Math" pitchFamily="18" charset="0"/>
                  </a:rPr>
                  <a:t>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[]</a:t>
                </a:r>
                <a:r>
                  <a:rPr lang="en-US" i="1" dirty="0" smtClean="0">
                    <a:latin typeface="Cambria Math" pitchFamily="18" charset="0"/>
                    <a:ea typeface="Cambria Math" pitchFamily="18" charset="0"/>
                  </a:rPr>
                  <a:t> 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[</a:t>
                </a:r>
                <a:r>
                  <a:rPr lang="en-US" i="1" dirty="0" err="1" smtClean="0">
                    <a:latin typeface="Cambria Math" pitchFamily="18" charset="0"/>
                    <a:ea typeface="Cambria Math" pitchFamily="18" charset="0"/>
                  </a:rPr>
                  <a:t>boothc</a:t>
                </a:r>
                <a:r>
                  <a:rPr lang="en-US" dirty="0" smtClean="0">
                    <a:latin typeface="Cambria Math" pitchFamily="18" charset="0"/>
                    <a:ea typeface="Cambria Math" pitchFamily="18" charset="0"/>
                  </a:rPr>
                  <a:t>]</a:t>
                </a:r>
                <a:r>
                  <a:rPr lang="en-US" i="1" dirty="0" smtClean="0">
                    <a:latin typeface="Cambria Math" pitchFamily="18" charset="0"/>
                    <a:ea typeface="Cambria Math" pitchFamily="18" charset="0"/>
                  </a:rPr>
                  <a:t> </a:t>
                </a:r>
                <a:r>
                  <a:rPr lang="en-US" i="1" dirty="0" smtClean="0">
                    <a:latin typeface="Cambria Math" pitchFamily="18" charset="0"/>
                    <a:ea typeface="Cambria Math" pitchFamily="18" charset="0"/>
                    <a:cs typeface="Calibri"/>
                  </a:rPr>
                  <a:t>→ </a:t>
                </a:r>
                <a:r>
                  <a:rPr lang="en-US" i="1" dirty="0" smtClean="0">
                    <a:latin typeface="Cambria Math" pitchFamily="18" charset="0"/>
                    <a:ea typeface="Cambria Math" pitchFamily="18" charset="0"/>
                  </a:rPr>
                  <a:t>T </a:t>
                </a:r>
                <a:r>
                  <a:rPr lang="en-US" dirty="0" smtClean="0"/>
                  <a:t>implies </a:t>
                </a:r>
                <a:endParaRPr lang="en-US" b="0" i="1" dirty="0" smtClean="0">
                  <a:latin typeface="Cambria Math"/>
                  <a:ea typeface="Cambria Math"/>
                </a:endParaRPr>
              </a:p>
              <a:p>
                <a:pPr lvl="1">
                  <a:buFontTx/>
                  <a:buChar char=" 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. </m:t>
                    </m:r>
                    <m:d>
                      <m:dPr>
                        <m:begChr m:val="⟦"/>
                        <m:endChr m:val="⟧"/>
                        <m:ctrlPr>
                          <a:rPr lang="en-US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𝑐𝑘𝑡</m:t>
                        </m:r>
                      </m:e>
                    </m:d>
                    <m:r>
                      <a:rPr lang="en-US" b="0" i="1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⇒</m:t>
                    </m:r>
                  </m:oMath>
                </a14:m>
                <a:endParaRPr lang="en-US" b="0" i="1" dirty="0" smtClean="0">
                  <a:latin typeface="Cambria Math"/>
                  <a:ea typeface="Cambria Math"/>
                </a:endParaRPr>
              </a:p>
              <a:p>
                <a:pPr lvl="2">
                  <a:buFontTx/>
                  <a:buChar char=" 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  <a:ea typeface="Cambria Math"/>
                      </a:rPr>
                      <m:t>𝑝𝑟𝑒𝑑𝑙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 [] 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⇒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𝑝𝑟𝑒𝑑𝑙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 [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𝑏𝑜𝑜𝑡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h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𝑐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] 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𝑒</m:t>
                    </m:r>
                  </m:oMath>
                </a14:m>
                <a:endParaRPr lang="en-US" b="0" dirty="0" smtClean="0">
                  <a:ea typeface="Cambria Math"/>
                </a:endParaRPr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0" y="1600200"/>
                <a:ext cx="6400800" cy="4525963"/>
              </a:xfrm>
              <a:blipFill rotWithShape="1">
                <a:blip r:embed="rId2"/>
                <a:stretch>
                  <a:fillRect l="-2095" t="-2022" r="-1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453695" y="2202493"/>
            <a:ext cx="2165395" cy="3395532"/>
            <a:chOff x="1419634" y="838200"/>
            <a:chExt cx="2165395" cy="3395532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1536393" y="2169836"/>
              <a:ext cx="1942488" cy="78412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</a:pPr>
              <a:endParaRPr lang="en-US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6" name="Text Box 31"/>
            <p:cNvSpPr txBox="1">
              <a:spLocks noChangeArrowheads="1"/>
            </p:cNvSpPr>
            <p:nvPr/>
          </p:nvSpPr>
          <p:spPr bwMode="auto">
            <a:xfrm>
              <a:off x="1419634" y="2195388"/>
              <a:ext cx="2165395" cy="7330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 anchor="ctr"/>
            <a:lstStyle/>
            <a:p>
              <a:pPr algn="ctr" eaLnBrk="1" hangingPunct="1"/>
              <a:r>
                <a:rPr lang="en-US" sz="2400" dirty="0" smtClean="0">
                  <a:latin typeface="Courier New" pitchFamily="49" charset="0"/>
                  <a:cs typeface="Courier New" pitchFamily="49" charset="0"/>
                </a:rPr>
                <a:t>Booth </a:t>
              </a:r>
            </a:p>
            <a:p>
              <a:pPr algn="ctr" eaLnBrk="1" hangingPunct="1"/>
              <a:r>
                <a:rPr lang="en-US" sz="2400" dirty="0" smtClean="0">
                  <a:latin typeface="Courier New" pitchFamily="49" charset="0"/>
                  <a:cs typeface="Courier New" pitchFamily="49" charset="0"/>
                </a:rPr>
                <a:t>Encoder</a:t>
              </a:r>
              <a:endParaRPr lang="en-US" sz="6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7" name="Text Box 38"/>
            <p:cNvSpPr txBox="1">
              <a:spLocks noChangeArrowheads="1"/>
            </p:cNvSpPr>
            <p:nvPr/>
          </p:nvSpPr>
          <p:spPr bwMode="auto">
            <a:xfrm>
              <a:off x="2005863" y="838200"/>
              <a:ext cx="965937" cy="4237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/>
            <a:lstStyle/>
            <a:p>
              <a:pPr algn="ctr" eaLnBrk="1" hangingPunct="1"/>
              <a:r>
                <a:rPr lang="en-US" sz="2400" b="1" dirty="0" smtClean="0">
                  <a:latin typeface="Courier New" pitchFamily="49" charset="0"/>
                  <a:cs typeface="Courier New" pitchFamily="49" charset="0"/>
                </a:rPr>
                <a:t>S1</a:t>
              </a:r>
              <a:endParaRPr lang="en-US" sz="2400" b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8" name="Line 14"/>
            <p:cNvSpPr>
              <a:spLocks noChangeShapeType="1"/>
            </p:cNvSpPr>
            <p:nvPr/>
          </p:nvSpPr>
          <p:spPr bwMode="auto">
            <a:xfrm>
              <a:off x="2514600" y="1371600"/>
              <a:ext cx="0" cy="7974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9" name="Line 14"/>
            <p:cNvSpPr>
              <a:spLocks noChangeShapeType="1"/>
            </p:cNvSpPr>
            <p:nvPr/>
          </p:nvSpPr>
          <p:spPr bwMode="auto">
            <a:xfrm>
              <a:off x="2514600" y="2971800"/>
              <a:ext cx="0" cy="7822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0" name="Line 14"/>
            <p:cNvSpPr>
              <a:spLocks noChangeShapeType="1"/>
            </p:cNvSpPr>
            <p:nvPr/>
          </p:nvSpPr>
          <p:spPr bwMode="auto">
            <a:xfrm>
              <a:off x="2895600" y="2971800"/>
              <a:ext cx="0" cy="7894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1" name="Line 14"/>
            <p:cNvSpPr>
              <a:spLocks noChangeShapeType="1"/>
            </p:cNvSpPr>
            <p:nvPr/>
          </p:nvSpPr>
          <p:spPr bwMode="auto">
            <a:xfrm>
              <a:off x="2133600" y="2971800"/>
              <a:ext cx="0" cy="7894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" name="Text Box 38"/>
            <p:cNvSpPr txBox="1">
              <a:spLocks noChangeArrowheads="1"/>
            </p:cNvSpPr>
            <p:nvPr/>
          </p:nvSpPr>
          <p:spPr bwMode="auto">
            <a:xfrm>
              <a:off x="1803031" y="3810000"/>
              <a:ext cx="1423137" cy="4237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/>
            <a:lstStyle/>
            <a:p>
              <a:pPr algn="ctr" eaLnBrk="1" hangingPunct="1"/>
              <a:r>
                <a:rPr lang="en-US" sz="2400" b="1" dirty="0" err="1" smtClean="0">
                  <a:latin typeface="Courier New" pitchFamily="49" charset="0"/>
                  <a:cs typeface="Courier New" pitchFamily="49" charset="0"/>
                </a:rPr>
                <a:t>BE</a:t>
              </a:r>
              <a:r>
                <a:rPr lang="en-US" sz="2400" b="1" baseline="-25000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endParaRPr lang="en-US" sz="2400" b="1" dirty="0">
                <a:latin typeface="Courier New" pitchFamily="49" charset="0"/>
                <a:cs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9299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Relational STE in Action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743200" y="1945775"/>
                <a:ext cx="5943600" cy="3997825"/>
              </a:xfrm>
            </p:spPr>
            <p:txBody>
              <a:bodyPr>
                <a:normAutofit fontScale="77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. </m:t>
                    </m:r>
                    <m:d>
                      <m:dPr>
                        <m:begChr m:val="⟦"/>
                        <m:endChr m:val="⟧"/>
                        <m:ctrlPr>
                          <a:rPr lang="en-US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𝑐𝑘𝑡</m:t>
                        </m:r>
                      </m:e>
                    </m:d>
                    <m:r>
                      <a:rPr lang="en-US" b="0" i="1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⇒</m:t>
                    </m:r>
                  </m:oMath>
                </a14:m>
                <a:r>
                  <a:rPr lang="en-US" b="0" i="1" dirty="0" smtClean="0">
                    <a:latin typeface="Cambria Math"/>
                    <a:ea typeface="Cambria Math"/>
                  </a:rPr>
                  <a:t/>
                </a:r>
                <a:br>
                  <a:rPr lang="en-US" b="0" i="1" dirty="0" smtClean="0">
                    <a:latin typeface="Cambria Math"/>
                    <a:ea typeface="Cambria Math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𝑝𝑟𝑒𝑑𝑙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[]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⇒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𝑝𝑟𝑒𝑑𝑙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[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𝑏𝑜𝑜𝑡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h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𝑐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]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𝑒</m:t>
                    </m:r>
                  </m:oMath>
                </a14:m>
                <a:endParaRPr lang="en-US" b="0" dirty="0" smtClean="0">
                  <a:ea typeface="Cambria Math"/>
                </a:endParaRPr>
              </a:p>
              <a:p>
                <a:endParaRPr lang="en-US" b="0" i="1" dirty="0" smtClean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. </m:t>
                    </m:r>
                    <m:d>
                      <m:dPr>
                        <m:begChr m:val="⟦"/>
                        <m:endChr m:val="⟧"/>
                        <m:ctrlPr>
                          <a:rPr lang="en-US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𝑐𝑘𝑡</m:t>
                        </m:r>
                      </m:e>
                    </m:d>
                    <m:r>
                      <a:rPr lang="en-US" b="0" i="1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⇒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𝑝𝑟𝑒𝑑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𝑏𝑜𝑜𝑡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h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𝑐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)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𝑒</m:t>
                    </m:r>
                  </m:oMath>
                </a14:m>
                <a:endParaRPr lang="en-US" b="0" dirty="0" smtClean="0">
                  <a:ea typeface="Cambria Math"/>
                </a:endParaRPr>
              </a:p>
              <a:p>
                <a:endParaRPr lang="en-US" i="1" dirty="0" smtClean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. </m:t>
                    </m:r>
                    <m:d>
                      <m:dPr>
                        <m:begChr m:val="⟦"/>
                        <m:endChr m:val="⟧"/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𝑐𝑘𝑡</m:t>
                        </m:r>
                      </m:e>
                    </m:d>
                    <m:r>
                      <a:rPr lang="en-US" i="1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⇒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𝑒𝑞𝑛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1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(</m:t>
                    </m:r>
                  </m:oMath>
                </a14:m>
                <a:r>
                  <a:rPr lang="en-US" b="0" i="1" dirty="0" smtClean="0">
                    <a:latin typeface="Cambria Math" pitchFamily="18" charset="0"/>
                    <a:ea typeface="Cambria Math" pitchFamily="18" charset="0"/>
                  </a:rPr>
                  <a:t>s</a:t>
                </a:r>
                <a:r>
                  <a:rPr lang="en-US" b="0" dirty="0" smtClean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b="0" i="1" dirty="0" smtClean="0">
                    <a:latin typeface="Cambria Math" pitchFamily="18" charset="0"/>
                    <a:ea typeface="Cambria Math" pitchFamily="18" charset="0"/>
                  </a:rPr>
                  <a:t>i e s</a:t>
                </a:r>
                <a:r>
                  <a:rPr lang="en-US" b="0" dirty="0" smtClean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b="0" dirty="0" smtClean="0">
                    <a:ea typeface="Cambria Math"/>
                  </a:rPr>
                  <a:t>)</a:t>
                </a:r>
              </a:p>
              <a:p>
                <a:endParaRPr lang="en-US" i="1" dirty="0" smtClean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. </m:t>
                    </m:r>
                    <m:d>
                      <m:dPr>
                        <m:begChr m:val="⟦"/>
                        <m:endChr m:val="⟧"/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𝑐𝑘𝑡</m:t>
                        </m:r>
                      </m:e>
                    </m:d>
                    <m:r>
                      <a:rPr lang="en-US" i="1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⇒       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 </m:t>
                    </m:r>
                    <m:d>
                      <m:dPr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2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𝑖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𝑒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/>
                              </a:rPr>
                              <m:t>𝑖</m:t>
                            </m:r>
                            <m:r>
                              <a:rPr lang="en-US" i="1">
                                <a:latin typeface="Cambria Math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</a:rPr>
                              <m:t>𝑁</m:t>
                            </m:r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𝐵𝐸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𝑠</m:t>
                                </m:r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𝑒</m:t>
                                </m:r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𝑠</m:t>
                                </m:r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i="1">
                                <a:latin typeface="Cambria Math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𝑘𝑖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endParaRPr lang="en-US" dirty="0">
                  <a:ea typeface="Cambria Math"/>
                </a:endParaRPr>
              </a:p>
              <a:p>
                <a:endParaRPr lang="en-US" b="0" dirty="0" smtClean="0">
                  <a:ea typeface="Cambria Math"/>
                </a:endParaRPr>
              </a:p>
              <a:p>
                <a:endParaRPr lang="en-US" b="0" dirty="0" smtClean="0">
                  <a:ea typeface="Cambria Math"/>
                </a:endParaRPr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0" y="1945775"/>
                <a:ext cx="5943600" cy="3997825"/>
              </a:xfrm>
              <a:blipFill rotWithShape="1">
                <a:blip r:embed="rId2"/>
                <a:stretch>
                  <a:fillRect l="-1436" r="-47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453695" y="2202493"/>
            <a:ext cx="2165395" cy="3395532"/>
            <a:chOff x="1419634" y="838200"/>
            <a:chExt cx="2165395" cy="3395532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1536393" y="2169836"/>
              <a:ext cx="1942488" cy="78412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</a:pPr>
              <a:endParaRPr lang="en-US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6" name="Text Box 31"/>
            <p:cNvSpPr txBox="1">
              <a:spLocks noChangeArrowheads="1"/>
            </p:cNvSpPr>
            <p:nvPr/>
          </p:nvSpPr>
          <p:spPr bwMode="auto">
            <a:xfrm>
              <a:off x="1419634" y="2195388"/>
              <a:ext cx="2165395" cy="7330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 anchor="ctr"/>
            <a:lstStyle/>
            <a:p>
              <a:pPr algn="ctr" eaLnBrk="1" hangingPunct="1"/>
              <a:r>
                <a:rPr lang="en-US" sz="2400" dirty="0" smtClean="0">
                  <a:latin typeface="Courier New" pitchFamily="49" charset="0"/>
                  <a:cs typeface="Courier New" pitchFamily="49" charset="0"/>
                </a:rPr>
                <a:t>Booth </a:t>
              </a:r>
            </a:p>
            <a:p>
              <a:pPr algn="ctr" eaLnBrk="1" hangingPunct="1"/>
              <a:r>
                <a:rPr lang="en-US" sz="2400" dirty="0" smtClean="0">
                  <a:latin typeface="Courier New" pitchFamily="49" charset="0"/>
                  <a:cs typeface="Courier New" pitchFamily="49" charset="0"/>
                </a:rPr>
                <a:t>Encoder</a:t>
              </a:r>
              <a:endParaRPr lang="en-US" sz="6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7" name="Text Box 38"/>
            <p:cNvSpPr txBox="1">
              <a:spLocks noChangeArrowheads="1"/>
            </p:cNvSpPr>
            <p:nvPr/>
          </p:nvSpPr>
          <p:spPr bwMode="auto">
            <a:xfrm>
              <a:off x="2005863" y="838200"/>
              <a:ext cx="965937" cy="4237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/>
            <a:lstStyle/>
            <a:p>
              <a:pPr algn="ctr" eaLnBrk="1" hangingPunct="1"/>
              <a:r>
                <a:rPr lang="en-US" sz="2400" b="1" dirty="0" smtClean="0">
                  <a:latin typeface="Courier New" pitchFamily="49" charset="0"/>
                  <a:cs typeface="Courier New" pitchFamily="49" charset="0"/>
                </a:rPr>
                <a:t>S1</a:t>
              </a:r>
              <a:endParaRPr lang="en-US" sz="2400" b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8" name="Line 14"/>
            <p:cNvSpPr>
              <a:spLocks noChangeShapeType="1"/>
            </p:cNvSpPr>
            <p:nvPr/>
          </p:nvSpPr>
          <p:spPr bwMode="auto">
            <a:xfrm>
              <a:off x="2514600" y="1371600"/>
              <a:ext cx="0" cy="7974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9" name="Line 14"/>
            <p:cNvSpPr>
              <a:spLocks noChangeShapeType="1"/>
            </p:cNvSpPr>
            <p:nvPr/>
          </p:nvSpPr>
          <p:spPr bwMode="auto">
            <a:xfrm>
              <a:off x="2514600" y="2971800"/>
              <a:ext cx="0" cy="7822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0" name="Line 14"/>
            <p:cNvSpPr>
              <a:spLocks noChangeShapeType="1"/>
            </p:cNvSpPr>
            <p:nvPr/>
          </p:nvSpPr>
          <p:spPr bwMode="auto">
            <a:xfrm>
              <a:off x="2895600" y="2971800"/>
              <a:ext cx="0" cy="7894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1" name="Line 14"/>
            <p:cNvSpPr>
              <a:spLocks noChangeShapeType="1"/>
            </p:cNvSpPr>
            <p:nvPr/>
          </p:nvSpPr>
          <p:spPr bwMode="auto">
            <a:xfrm>
              <a:off x="2133600" y="2971800"/>
              <a:ext cx="0" cy="7894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" name="Text Box 38"/>
            <p:cNvSpPr txBox="1">
              <a:spLocks noChangeArrowheads="1"/>
            </p:cNvSpPr>
            <p:nvPr/>
          </p:nvSpPr>
          <p:spPr bwMode="auto">
            <a:xfrm>
              <a:off x="1803031" y="3810000"/>
              <a:ext cx="1423137" cy="4237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/>
            <a:lstStyle/>
            <a:p>
              <a:pPr algn="ctr" eaLnBrk="1" hangingPunct="1"/>
              <a:r>
                <a:rPr lang="en-US" sz="2400" b="1" dirty="0" err="1" smtClean="0">
                  <a:latin typeface="Courier New" pitchFamily="49" charset="0"/>
                  <a:cs typeface="Courier New" pitchFamily="49" charset="0"/>
                </a:rPr>
                <a:t>BE</a:t>
              </a:r>
              <a:r>
                <a:rPr lang="en-US" sz="2400" b="1" baseline="-25000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endParaRPr lang="en-US" sz="2400" b="1" dirty="0">
                <a:latin typeface="Courier New" pitchFamily="49" charset="0"/>
                <a:cs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3940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Completing a Multiplier proof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97814" y="1600200"/>
                <a:ext cx="5817586" cy="4876800"/>
              </a:xfrm>
            </p:spPr>
            <p:txBody>
              <a:bodyPr>
                <a:normAutofit fontScale="55000" lnSpcReduction="20000"/>
              </a:bodyPr>
              <a:lstStyle/>
              <a:p>
                <a:pPr>
                  <a:buFontTx/>
                  <a:buChar char=" "/>
                </a:pPr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sz="4400" b="0" i="1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sz="4400" b="0" i="1" smtClean="0">
                        <a:latin typeface="Cambria Math"/>
                        <a:ea typeface="Cambria Math"/>
                      </a:rPr>
                      <m:t>. </m:t>
                    </m:r>
                    <m:d>
                      <m:dPr>
                        <m:begChr m:val="⟦"/>
                        <m:endChr m:val="⟧"/>
                        <m:ctrlPr>
                          <a:rPr lang="en-US" sz="44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𝑐𝑘𝑡</m:t>
                        </m:r>
                      </m:e>
                    </m:d>
                    <m:r>
                      <a:rPr lang="en-US" sz="4400" b="0" i="1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sz="4400" b="0" i="1" smtClean="0">
                        <a:latin typeface="Cambria Math"/>
                        <a:ea typeface="Cambria Math"/>
                      </a:rPr>
                      <m:t>⇒    </m:t>
                    </m:r>
                    <m:d>
                      <m:dPr>
                        <m:ctrlPr>
                          <a:rPr lang="en-US" sz="44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nary>
                          <m:naryPr>
                            <m:chr m:val="⋀"/>
                            <m:subHide m:val="on"/>
                            <m:supHide m:val="on"/>
                            <m:ctrlPr>
                              <a:rPr lang="en-US" sz="4400" b="0" i="1" smtClean="0">
                                <a:latin typeface="Cambria Math"/>
                                <a:ea typeface="Cambria Math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4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𝑠</m:t>
                            </m:r>
                            <m:r>
                              <a:rPr lang="en-US" sz="4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2</m:t>
                            </m:r>
                            <m:r>
                              <a:rPr lang="en-US" sz="4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𝑖</m:t>
                            </m:r>
                            <m:r>
                              <a:rPr lang="en-US" sz="4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a:rPr lang="en-US" sz="4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𝑒</m:t>
                            </m:r>
                            <m:r>
                              <a:rPr lang="en-US" sz="4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4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4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𝑝𝑝</m:t>
                                </m:r>
                              </m:e>
                              <m:sub>
                                <m:r>
                                  <a:rPr lang="en-US" sz="4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sz="4400" b="0" i="1" smtClean="0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4400" b="0" i="1" smtClean="0">
                                <a:latin typeface="Cambria Math"/>
                                <a:ea typeface="Cambria Math"/>
                              </a:rPr>
                              <m:t>𝐵𝐸</m:t>
                            </m:r>
                          </m:e>
                          <m:sub>
                            <m:r>
                              <a:rPr lang="en-US" sz="4400" b="0" i="1" smtClean="0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4400" b="0" i="1" smtClean="0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sz="4400" b="0" i="1" smtClean="0">
                                <a:latin typeface="Cambria Math"/>
                                <a:ea typeface="Cambria Math"/>
                              </a:rPr>
                              <m:t>𝑠</m:t>
                            </m:r>
                            <m:r>
                              <a:rPr lang="en-US" sz="4400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  <m:r>
                              <a:rPr lang="en-US" sz="4400" b="0" i="1" smtClean="0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  <m:r>
                              <a:rPr lang="en-US" sz="4400" b="0" i="1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a:rPr lang="en-US" sz="4400" b="0" i="1" smtClean="0">
                                <a:latin typeface="Cambria Math"/>
                                <a:ea typeface="Cambria Math"/>
                              </a:rPr>
                              <m:t>𝑒</m:t>
                            </m:r>
                            <m:r>
                              <a:rPr lang="en-US" sz="4400" b="0" i="1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a:rPr lang="en-US" sz="4400" b="0" i="1" smtClean="0">
                                <a:latin typeface="Cambria Math"/>
                                <a:ea typeface="Cambria Math"/>
                              </a:rPr>
                              <m:t>𝑠</m:t>
                            </m:r>
                            <m:r>
                              <a:rPr lang="en-US" sz="4400" b="0" i="1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e>
                        </m:d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𝑒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e>
                    </m:d>
                  </m:oMath>
                </a14:m>
                <a:endParaRPr lang="en-US" sz="4400" b="0" dirty="0" smtClean="0">
                  <a:ea typeface="Cambria Math"/>
                </a:endParaRPr>
              </a:p>
              <a:p>
                <a:pPr>
                  <a:buFontTx/>
                  <a:buChar char=" "/>
                </a:pPr>
                <a:endParaRPr lang="en-US" sz="4400" b="0" i="1" dirty="0" smtClean="0">
                  <a:latin typeface="Cambria Math"/>
                  <a:ea typeface="Cambria Math"/>
                </a:endParaRPr>
              </a:p>
              <a:p>
                <a:pPr>
                  <a:buFontTx/>
                  <a:buChar char=" "/>
                </a:pPr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sz="4400" b="0" i="1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sz="4400" b="0" i="1" smtClean="0">
                        <a:latin typeface="Cambria Math"/>
                        <a:ea typeface="Cambria Math"/>
                      </a:rPr>
                      <m:t>. </m:t>
                    </m:r>
                    <m:d>
                      <m:dPr>
                        <m:begChr m:val="⟦"/>
                        <m:endChr m:val="⟧"/>
                        <m:ctrlPr>
                          <a:rPr lang="en-US" sz="44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𝑐𝑘𝑡</m:t>
                        </m:r>
                      </m:e>
                    </m:d>
                    <m:r>
                      <a:rPr lang="en-US" sz="4400" b="0" i="1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sz="4400" b="0" i="1" smtClean="0">
                        <a:latin typeface="Cambria Math"/>
                        <a:ea typeface="Cambria Math"/>
                      </a:rPr>
                      <m:t>⇒    </m:t>
                    </m:r>
                    <m:d>
                      <m:dPr>
                        <m:ctrlPr>
                          <a:rPr lang="en-US" sz="44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𝑒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𝑝𝑟𝑜𝑑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sz="4400" b="0" i="1" smtClean="0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4400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sz="4400" b="0" i="1" smtClean="0">
                                <a:latin typeface="Cambria Math"/>
                              </a:rPr>
                              <m:t>=0</m:t>
                            </m:r>
                          </m:sub>
                          <m:sup>
                            <m:r>
                              <a:rPr lang="en-US" sz="4400" b="0" i="1" smtClean="0">
                                <a:latin typeface="Cambria Math"/>
                              </a:rPr>
                              <m:t>𝑁</m:t>
                            </m:r>
                            <m:r>
                              <a:rPr lang="en-US" sz="4400" b="0" i="1" smtClean="0">
                                <a:latin typeface="Cambria Math"/>
                              </a:rPr>
                              <m:t>−1</m:t>
                            </m:r>
                          </m:sup>
                          <m:e>
                            <m:d>
                              <m:dPr>
                                <m:ctrlPr>
                                  <a:rPr lang="en-US" sz="44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4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𝑠</m:t>
                                </m:r>
                                <m:r>
                                  <a:rPr lang="en-US" sz="4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2</m:t>
                                </m:r>
                                <m:r>
                                  <a:rPr lang="en-US" sz="4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𝑖</m:t>
                                </m:r>
                                <m:r>
                                  <a:rPr lang="en-US" sz="4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 </m:t>
                                </m:r>
                                <m:r>
                                  <a:rPr lang="en-US" sz="4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𝑒</m:t>
                                </m:r>
                                <m:r>
                                  <a:rPr lang="en-US" sz="4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4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𝑝𝑝</m:t>
                                    </m:r>
                                  </m:e>
                                  <m:sub>
                                    <m:r>
                                      <a:rPr lang="en-US" sz="4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4400" b="0" i="1" smtClean="0">
                                <a:latin typeface="Cambria Math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US" sz="4400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4400" b="0" i="1" smtClean="0">
                                    <a:latin typeface="Cambria Math"/>
                                    <a:ea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400" b="0" i="1" smtClean="0">
                                    <a:latin typeface="Cambria Math"/>
                                    <a:ea typeface="Cambria Math"/>
                                  </a:rPr>
                                  <m:t>𝑘𝑖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endParaRPr lang="en-US" sz="4400" b="0" dirty="0" smtClean="0">
                  <a:ea typeface="Cambria Math"/>
                </a:endParaRPr>
              </a:p>
              <a:p>
                <a:pPr>
                  <a:buFontTx/>
                  <a:buChar char=" "/>
                </a:pPr>
                <a:endParaRPr lang="en-US" sz="4400" b="0" i="1" dirty="0" smtClean="0">
                  <a:latin typeface="Cambria Math"/>
                  <a:ea typeface="Cambria Math"/>
                </a:endParaRPr>
              </a:p>
              <a:p>
                <a:pPr>
                  <a:buFontTx/>
                  <a:buChar char=" "/>
                </a:pPr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sz="4400" b="0" i="1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sz="4400" b="0" i="1" smtClean="0">
                        <a:latin typeface="Cambria Math"/>
                        <a:ea typeface="Cambria Math"/>
                      </a:rPr>
                      <m:t>. </m:t>
                    </m:r>
                    <m:d>
                      <m:dPr>
                        <m:begChr m:val="⟦"/>
                        <m:endChr m:val="⟧"/>
                        <m:ctrlPr>
                          <a:rPr lang="en-US" sz="44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𝑐𝑘𝑡</m:t>
                        </m:r>
                      </m:e>
                    </m:d>
                    <m:r>
                      <a:rPr lang="en-US" sz="4400" b="0" i="1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sz="4400" b="0" i="1" smtClean="0">
                        <a:latin typeface="Cambria Math"/>
                        <a:ea typeface="Cambria Math"/>
                      </a:rPr>
                      <m:t>⇒    </m:t>
                    </m:r>
                    <m:d>
                      <m:dPr>
                        <m:ctrlPr>
                          <a:rPr lang="en-US" sz="44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𝑒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1=</m:t>
                        </m:r>
                        <m:nary>
                          <m:naryPr>
                            <m:chr m:val="∑"/>
                            <m:ctrlPr>
                              <a:rPr lang="en-US" sz="4400" b="0" i="1" smtClean="0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4400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sz="4400" b="0" i="1" smtClean="0">
                                <a:latin typeface="Cambria Math"/>
                              </a:rPr>
                              <m:t>=0</m:t>
                            </m:r>
                          </m:sub>
                          <m:sup>
                            <m:r>
                              <a:rPr lang="en-US" sz="4400" b="0" i="1" smtClean="0">
                                <a:latin typeface="Cambria Math"/>
                              </a:rPr>
                              <m:t>𝑁</m:t>
                            </m:r>
                            <m:r>
                              <a:rPr lang="en-US" sz="4400" b="0" i="1" smtClean="0">
                                <a:latin typeface="Cambria Math"/>
                              </a:rPr>
                              <m:t>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44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4400" b="0" i="1" smtClean="0">
                                    <a:latin typeface="Cambria Math"/>
                                  </a:rPr>
                                  <m:t>𝐵𝐸</m:t>
                                </m:r>
                              </m:e>
                              <m:sub>
                                <m:r>
                                  <a:rPr lang="en-US" sz="4400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44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4400" b="0" i="1" smtClean="0">
                                    <a:latin typeface="Cambria Math"/>
                                    <a:ea typeface="Cambria Math"/>
                                  </a:rPr>
                                  <m:t>𝑠</m:t>
                                </m:r>
                                <m:r>
                                  <a:rPr lang="en-US" sz="4400" b="0" i="1" smtClean="0">
                                    <a:latin typeface="Cambria Math"/>
                                    <a:ea typeface="Cambria Math"/>
                                  </a:rPr>
                                  <m:t>2</m:t>
                                </m:r>
                                <m:r>
                                  <a:rPr lang="en-US" sz="4400" b="0" i="1" smtClean="0">
                                    <a:latin typeface="Cambria Math"/>
                                    <a:ea typeface="Cambria Math"/>
                                  </a:rPr>
                                  <m:t>𝑖</m:t>
                                </m:r>
                                <m:r>
                                  <a:rPr lang="en-US" sz="4400" b="0" i="1" smtClean="0">
                                    <a:latin typeface="Cambria Math"/>
                                    <a:ea typeface="Cambria Math"/>
                                  </a:rPr>
                                  <m:t> </m:t>
                                </m:r>
                                <m:r>
                                  <a:rPr lang="en-US" sz="4400" b="0" i="1" smtClean="0">
                                    <a:latin typeface="Cambria Math"/>
                                    <a:ea typeface="Cambria Math"/>
                                  </a:rPr>
                                  <m:t>𝑒</m:t>
                                </m:r>
                                <m:r>
                                  <a:rPr lang="en-US" sz="4400" b="0" i="1" smtClean="0">
                                    <a:latin typeface="Cambria Math"/>
                                    <a:ea typeface="Cambria Math"/>
                                  </a:rPr>
                                  <m:t> </m:t>
                                </m:r>
                                <m:r>
                                  <a:rPr lang="en-US" sz="4400" b="0" i="1" smtClean="0">
                                    <a:latin typeface="Cambria Math"/>
                                    <a:ea typeface="Cambria Math"/>
                                  </a:rPr>
                                  <m:t>𝑠</m:t>
                                </m:r>
                                <m:r>
                                  <a:rPr lang="en-US" sz="4400" b="0" i="1" smtClean="0">
                                    <a:latin typeface="Cambria Math"/>
                                    <a:ea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sz="4400" b="0" i="1" smtClean="0">
                                <a:latin typeface="Cambria Math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US" sz="4400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4400" b="0" i="1" smtClean="0">
                                    <a:latin typeface="Cambria Math"/>
                                    <a:ea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400" b="0" i="1" smtClean="0">
                                    <a:latin typeface="Cambria Math"/>
                                    <a:ea typeface="Cambria Math"/>
                                  </a:rPr>
                                  <m:t>𝑘𝑖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endParaRPr lang="en-US" sz="4400" b="0" dirty="0" smtClean="0">
                  <a:ea typeface="Cambria Math"/>
                </a:endParaRPr>
              </a:p>
              <a:p>
                <a:pPr>
                  <a:buFontTx/>
                  <a:buChar char=" "/>
                </a:pPr>
                <a:endParaRPr lang="en-US" sz="4400" dirty="0" smtClean="0">
                  <a:ea typeface="Cambria Math"/>
                </a:endParaRPr>
              </a:p>
              <a:p>
                <a:pPr>
                  <a:buFontTx/>
                  <a:buChar char=" "/>
                </a:pPr>
                <a:endParaRPr lang="en-US" sz="4400" dirty="0" smtClean="0">
                  <a:ea typeface="Cambria Math"/>
                </a:endParaRPr>
              </a:p>
              <a:p>
                <a:pPr>
                  <a:buFontTx/>
                  <a:buChar char=" "/>
                </a:pPr>
                <a:endParaRPr lang="en-US" sz="4400" b="0" dirty="0" smtClean="0">
                  <a:ea typeface="Cambria Math"/>
                </a:endParaRPr>
              </a:p>
              <a:p>
                <a:pPr>
                  <a:buFontTx/>
                  <a:buChar char=" "/>
                </a:pPr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sz="4400" b="0" i="1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sz="4400" b="0" i="1" smtClean="0">
                        <a:latin typeface="Cambria Math"/>
                        <a:ea typeface="Cambria Math"/>
                      </a:rPr>
                      <m:t>. </m:t>
                    </m:r>
                    <m:d>
                      <m:dPr>
                        <m:begChr m:val="⟦"/>
                        <m:endChr m:val="⟧"/>
                        <m:ctrlPr>
                          <a:rPr lang="en-US" sz="44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𝑐𝑘𝑡</m:t>
                        </m:r>
                      </m:e>
                    </m:d>
                    <m:r>
                      <a:rPr lang="en-US" sz="4400" b="0" i="1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sz="4400" b="0" i="1" smtClean="0">
                        <a:latin typeface="Cambria Math"/>
                        <a:ea typeface="Cambria Math"/>
                      </a:rPr>
                      <m:t>⇒       </m:t>
                    </m:r>
                    <m:d>
                      <m:dPr>
                        <m:ctrlPr>
                          <a:rPr lang="en-US" sz="44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𝑒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𝑝𝑟𝑜𝑑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=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𝑒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1×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𝑒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sz="44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e>
                    </m:d>
                  </m:oMath>
                </a14:m>
                <a:endParaRPr lang="en-US" b="0" dirty="0" smtClean="0">
                  <a:ea typeface="Cambria Math"/>
                </a:endParaRPr>
              </a:p>
              <a:p>
                <a:pPr>
                  <a:buFontTx/>
                  <a:buChar char=" "/>
                </a:pPr>
                <a:endParaRPr lang="en-US" b="0" dirty="0" smtClean="0">
                  <a:ea typeface="Cambria Math"/>
                </a:endParaRPr>
              </a:p>
              <a:p>
                <a:pPr>
                  <a:buFontTx/>
                  <a:buChar char=" 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7814" y="1600200"/>
                <a:ext cx="5817586" cy="4876800"/>
              </a:xfrm>
              <a:blipFill rotWithShape="1">
                <a:blip r:embed="rId2"/>
                <a:stretch>
                  <a:fillRect l="-1466" t="-4875" r="-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/>
          <p:cNvGrpSpPr>
            <a:grpSpLocks noChangeAspect="1"/>
          </p:cNvGrpSpPr>
          <p:nvPr/>
        </p:nvGrpSpPr>
        <p:grpSpPr>
          <a:xfrm>
            <a:off x="457200" y="1763619"/>
            <a:ext cx="2969853" cy="4056654"/>
            <a:chOff x="634263" y="838200"/>
            <a:chExt cx="5132274" cy="7010400"/>
          </a:xfrm>
        </p:grpSpPr>
        <p:sp>
          <p:nvSpPr>
            <p:cNvPr id="4" name="Rectangle 6"/>
            <p:cNvSpPr>
              <a:spLocks noChangeArrowheads="1"/>
            </p:cNvSpPr>
            <p:nvPr/>
          </p:nvSpPr>
          <p:spPr bwMode="auto">
            <a:xfrm>
              <a:off x="1536393" y="2169836"/>
              <a:ext cx="1942488" cy="78412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</a:pPr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" name="Rectangle 7"/>
            <p:cNvSpPr>
              <a:spLocks noChangeArrowheads="1"/>
            </p:cNvSpPr>
            <p:nvPr/>
          </p:nvSpPr>
          <p:spPr bwMode="auto">
            <a:xfrm>
              <a:off x="1516139" y="3765657"/>
              <a:ext cx="4046462" cy="78560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</a:pPr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1635718" y="5307480"/>
              <a:ext cx="3794750" cy="128356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</a:pPr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7" name="Line 16"/>
            <p:cNvSpPr>
              <a:spLocks noChangeShapeType="1"/>
            </p:cNvSpPr>
            <p:nvPr/>
          </p:nvSpPr>
          <p:spPr bwMode="auto">
            <a:xfrm>
              <a:off x="3470834" y="6591046"/>
              <a:ext cx="0" cy="7392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8" name="Line 26"/>
            <p:cNvSpPr>
              <a:spLocks noChangeShapeType="1"/>
            </p:cNvSpPr>
            <p:nvPr/>
          </p:nvSpPr>
          <p:spPr bwMode="auto">
            <a:xfrm>
              <a:off x="3493646" y="4537342"/>
              <a:ext cx="0" cy="7701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9" name="Line 28"/>
            <p:cNvSpPr>
              <a:spLocks noChangeShapeType="1"/>
            </p:cNvSpPr>
            <p:nvPr/>
          </p:nvSpPr>
          <p:spPr bwMode="auto">
            <a:xfrm>
              <a:off x="2514600" y="4537342"/>
              <a:ext cx="0" cy="7701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0" name="Text Box 30"/>
            <p:cNvSpPr txBox="1">
              <a:spLocks noChangeArrowheads="1"/>
            </p:cNvSpPr>
            <p:nvPr/>
          </p:nvSpPr>
          <p:spPr bwMode="auto">
            <a:xfrm>
              <a:off x="1776496" y="3791946"/>
              <a:ext cx="3449773" cy="7330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 anchor="ctr"/>
            <a:lstStyle/>
            <a:p>
              <a:pPr algn="ctr" eaLnBrk="1" hangingPunct="1"/>
              <a:r>
                <a:rPr lang="en-US" sz="1400" dirty="0">
                  <a:latin typeface="Courier New" pitchFamily="49" charset="0"/>
                  <a:cs typeface="Courier New" pitchFamily="49" charset="0"/>
                </a:rPr>
                <a:t>Partial </a:t>
              </a:r>
              <a:r>
                <a:rPr lang="en-US" sz="1400" dirty="0" smtClean="0">
                  <a:latin typeface="Courier New" pitchFamily="49" charset="0"/>
                  <a:cs typeface="Courier New" pitchFamily="49" charset="0"/>
                </a:rPr>
                <a:t>Products Generation</a:t>
              </a:r>
              <a:endParaRPr lang="en-US" sz="14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1" name="Text Box 31"/>
            <p:cNvSpPr txBox="1">
              <a:spLocks noChangeArrowheads="1"/>
            </p:cNvSpPr>
            <p:nvPr/>
          </p:nvSpPr>
          <p:spPr bwMode="auto">
            <a:xfrm>
              <a:off x="1419634" y="2195388"/>
              <a:ext cx="2165395" cy="7330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 anchor="ctr"/>
            <a:lstStyle/>
            <a:p>
              <a:pPr algn="ctr" eaLnBrk="1" hangingPunct="1"/>
              <a:r>
                <a:rPr lang="en-US" sz="1400" dirty="0" smtClean="0">
                  <a:latin typeface="Courier New" pitchFamily="49" charset="0"/>
                  <a:cs typeface="Courier New" pitchFamily="49" charset="0"/>
                </a:rPr>
                <a:t>Booth </a:t>
              </a:r>
            </a:p>
            <a:p>
              <a:pPr algn="ctr" eaLnBrk="1" hangingPunct="1"/>
              <a:r>
                <a:rPr lang="en-US" sz="1400" dirty="0" smtClean="0">
                  <a:latin typeface="Courier New" pitchFamily="49" charset="0"/>
                  <a:cs typeface="Courier New" pitchFamily="49" charset="0"/>
                </a:rPr>
                <a:t>Encoder</a:t>
              </a:r>
              <a:endParaRPr lang="en-US" sz="44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" name="Text Box 33"/>
            <p:cNvSpPr txBox="1">
              <a:spLocks noChangeArrowheads="1"/>
            </p:cNvSpPr>
            <p:nvPr/>
          </p:nvSpPr>
          <p:spPr bwMode="auto">
            <a:xfrm>
              <a:off x="1631731" y="5582750"/>
              <a:ext cx="3831902" cy="7330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 anchor="ctr"/>
            <a:lstStyle/>
            <a:p>
              <a:pPr algn="ctr" eaLnBrk="1" hangingPunct="1"/>
              <a:r>
                <a:rPr lang="en-US" sz="1400" dirty="0" smtClean="0">
                  <a:latin typeface="Courier New" pitchFamily="49" charset="0"/>
                  <a:cs typeface="Courier New" pitchFamily="49" charset="0"/>
                </a:rPr>
                <a:t>Wallace </a:t>
              </a:r>
              <a:r>
                <a:rPr lang="en-US" sz="1400" dirty="0">
                  <a:latin typeface="Courier New" pitchFamily="49" charset="0"/>
                  <a:cs typeface="Courier New" pitchFamily="49" charset="0"/>
                </a:rPr>
                <a:t>Tree </a:t>
              </a:r>
              <a:r>
                <a:rPr lang="en-US" sz="1400" dirty="0" smtClean="0">
                  <a:latin typeface="Courier New" pitchFamily="49" charset="0"/>
                  <a:cs typeface="Courier New" pitchFamily="49" charset="0"/>
                </a:rPr>
                <a:t>Adder </a:t>
              </a:r>
              <a:r>
                <a:rPr lang="en-US" sz="1400" dirty="0">
                  <a:latin typeface="Courier New" pitchFamily="49" charset="0"/>
                  <a:cs typeface="Courier New" pitchFamily="49" charset="0"/>
                </a:rPr>
                <a:t>Network</a:t>
              </a:r>
            </a:p>
          </p:txBody>
        </p:sp>
        <p:sp>
          <p:nvSpPr>
            <p:cNvPr id="13" name="Text Box 38"/>
            <p:cNvSpPr txBox="1">
              <a:spLocks noChangeArrowheads="1"/>
            </p:cNvSpPr>
            <p:nvPr/>
          </p:nvSpPr>
          <p:spPr bwMode="auto">
            <a:xfrm>
              <a:off x="2005863" y="838200"/>
              <a:ext cx="965937" cy="4237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/>
            <a:lstStyle/>
            <a:p>
              <a:pPr algn="ctr" eaLnBrk="1" hangingPunct="1"/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S1</a:t>
              </a:r>
              <a:endParaRPr lang="en-US" sz="1400" b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4" name="Text Box 39"/>
            <p:cNvSpPr txBox="1">
              <a:spLocks noChangeArrowheads="1"/>
            </p:cNvSpPr>
            <p:nvPr/>
          </p:nvSpPr>
          <p:spPr bwMode="auto">
            <a:xfrm>
              <a:off x="3962401" y="838200"/>
              <a:ext cx="1088004" cy="4237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/>
            <a:lstStyle/>
            <a:p>
              <a:pPr algn="ctr" eaLnBrk="1" hangingPunct="1"/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S2</a:t>
              </a:r>
              <a:endParaRPr lang="en-US" sz="1400" b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5" name="Line 28"/>
            <p:cNvSpPr>
              <a:spLocks noChangeShapeType="1"/>
            </p:cNvSpPr>
            <p:nvPr/>
          </p:nvSpPr>
          <p:spPr bwMode="auto">
            <a:xfrm>
              <a:off x="4495799" y="4528210"/>
              <a:ext cx="0" cy="7701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6" name="Text Box 39"/>
            <p:cNvSpPr txBox="1">
              <a:spLocks noChangeArrowheads="1"/>
            </p:cNvSpPr>
            <p:nvPr/>
          </p:nvSpPr>
          <p:spPr bwMode="auto">
            <a:xfrm>
              <a:off x="2921000" y="7424868"/>
              <a:ext cx="1088004" cy="4237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/>
            <a:lstStyle/>
            <a:p>
              <a:pPr algn="ctr" eaLnBrk="1" hangingPunct="1"/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PROD</a:t>
              </a:r>
              <a:endParaRPr lang="en-US" sz="1400" b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2514600" y="1371600"/>
              <a:ext cx="0" cy="7974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0" name="Line 14"/>
            <p:cNvSpPr>
              <a:spLocks noChangeShapeType="1"/>
            </p:cNvSpPr>
            <p:nvPr/>
          </p:nvSpPr>
          <p:spPr bwMode="auto">
            <a:xfrm>
              <a:off x="4482844" y="1381660"/>
              <a:ext cx="0" cy="23714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1" name="Line 14"/>
            <p:cNvSpPr>
              <a:spLocks noChangeShapeType="1"/>
            </p:cNvSpPr>
            <p:nvPr/>
          </p:nvSpPr>
          <p:spPr bwMode="auto">
            <a:xfrm>
              <a:off x="2514600" y="2971800"/>
              <a:ext cx="0" cy="7822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2" name="Line 14"/>
            <p:cNvSpPr>
              <a:spLocks noChangeShapeType="1"/>
            </p:cNvSpPr>
            <p:nvPr/>
          </p:nvSpPr>
          <p:spPr bwMode="auto">
            <a:xfrm>
              <a:off x="2895600" y="2971800"/>
              <a:ext cx="0" cy="7894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3" name="Line 14"/>
            <p:cNvSpPr>
              <a:spLocks noChangeShapeType="1"/>
            </p:cNvSpPr>
            <p:nvPr/>
          </p:nvSpPr>
          <p:spPr bwMode="auto">
            <a:xfrm>
              <a:off x="2133600" y="2971800"/>
              <a:ext cx="0" cy="7894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/>
              <a:endParaRPr lang="en-US" sz="11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4" name="Text Box 38"/>
            <p:cNvSpPr txBox="1">
              <a:spLocks noChangeArrowheads="1"/>
            </p:cNvSpPr>
            <p:nvPr/>
          </p:nvSpPr>
          <p:spPr bwMode="auto">
            <a:xfrm>
              <a:off x="634263" y="3124200"/>
              <a:ext cx="1423137" cy="4237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/>
            <a:lstStyle/>
            <a:p>
              <a:pPr algn="ctr" eaLnBrk="1" hangingPunct="1"/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BE</a:t>
              </a:r>
              <a:r>
                <a:rPr lang="en-US" sz="1400" b="1" baseline="-25000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(S1)</a:t>
              </a:r>
              <a:endParaRPr lang="en-US" sz="1400" b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5" name="Text Box 38"/>
            <p:cNvSpPr txBox="1">
              <a:spLocks noChangeArrowheads="1"/>
            </p:cNvSpPr>
            <p:nvPr/>
          </p:nvSpPr>
          <p:spPr bwMode="auto">
            <a:xfrm>
              <a:off x="4800600" y="4724400"/>
              <a:ext cx="965937" cy="423732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lIns="43891" tIns="21946" rIns="43891" bIns="21946"/>
            <a:lstStyle/>
            <a:p>
              <a:pPr algn="ctr" eaLnBrk="1" hangingPunct="1"/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PP</a:t>
              </a:r>
              <a:r>
                <a:rPr lang="en-US" sz="1400" b="1" baseline="-25000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endParaRPr lang="en-US" sz="1400" b="1" baseline="-25000" dirty="0">
                <a:latin typeface="Courier New" pitchFamily="49" charset="0"/>
                <a:cs typeface="Courier New" pitchFamily="49" charset="0"/>
              </a:endParaRPr>
            </a:p>
          </p:txBody>
        </p:sp>
      </p:grpSp>
      <p:sp>
        <p:nvSpPr>
          <p:cNvPr id="27" name="Freeform 8"/>
          <p:cNvSpPr>
            <a:spLocks/>
          </p:cNvSpPr>
          <p:nvPr/>
        </p:nvSpPr>
        <p:spPr bwMode="auto">
          <a:xfrm rot="15534711" flipH="1">
            <a:off x="4830929" y="4939990"/>
            <a:ext cx="603250" cy="128588"/>
          </a:xfrm>
          <a:custGeom>
            <a:avLst/>
            <a:gdLst>
              <a:gd name="T0" fmla="*/ 0 w 646"/>
              <a:gd name="T1" fmla="*/ 66 h 135"/>
              <a:gd name="T2" fmla="*/ 146 w 646"/>
              <a:gd name="T3" fmla="*/ 11 h 135"/>
              <a:gd name="T4" fmla="*/ 237 w 646"/>
              <a:gd name="T5" fmla="*/ 130 h 135"/>
              <a:gd name="T6" fmla="*/ 346 w 646"/>
              <a:gd name="T7" fmla="*/ 39 h 135"/>
              <a:gd name="T8" fmla="*/ 509 w 646"/>
              <a:gd name="T9" fmla="*/ 84 h 135"/>
              <a:gd name="T10" fmla="*/ 646 w 646"/>
              <a:gd name="T11" fmla="*/ 30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46" h="135">
                <a:moveTo>
                  <a:pt x="0" y="66"/>
                </a:moveTo>
                <a:cubicBezTo>
                  <a:pt x="24" y="61"/>
                  <a:pt x="107" y="0"/>
                  <a:pt x="146" y="11"/>
                </a:cubicBezTo>
                <a:cubicBezTo>
                  <a:pt x="185" y="22"/>
                  <a:pt x="204" y="125"/>
                  <a:pt x="237" y="130"/>
                </a:cubicBezTo>
                <a:cubicBezTo>
                  <a:pt x="270" y="135"/>
                  <a:pt x="301" y="47"/>
                  <a:pt x="346" y="39"/>
                </a:cubicBezTo>
                <a:cubicBezTo>
                  <a:pt x="391" y="31"/>
                  <a:pt x="459" y="86"/>
                  <a:pt x="509" y="84"/>
                </a:cubicBezTo>
                <a:cubicBezTo>
                  <a:pt x="559" y="82"/>
                  <a:pt x="618" y="41"/>
                  <a:pt x="646" y="30"/>
                </a:cubicBezTo>
              </a:path>
            </a:pathLst>
          </a:custGeom>
          <a:noFill/>
          <a:ln w="2540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20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Proof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Additional arguments to </a:t>
            </a:r>
            <a:r>
              <a:rPr lang="en-US" dirty="0" err="1" smtClean="0"/>
              <a:t>rSTE</a:t>
            </a:r>
            <a:endParaRPr lang="en-US" dirty="0" smtClean="0"/>
          </a:p>
          <a:p>
            <a:pPr lvl="1"/>
            <a:r>
              <a:rPr lang="en-US" dirty="0" smtClean="0"/>
              <a:t>Constant antecedent: clock, reset</a:t>
            </a:r>
          </a:p>
          <a:p>
            <a:pPr lvl="1"/>
            <a:r>
              <a:rPr lang="en-US" dirty="0" err="1" smtClean="0"/>
              <a:t>rSTE</a:t>
            </a:r>
            <a:r>
              <a:rPr lang="en-US" dirty="0" smtClean="0"/>
              <a:t> options: </a:t>
            </a:r>
            <a:r>
              <a:rPr lang="en-US" dirty="0" err="1" smtClean="0"/>
              <a:t>bdd</a:t>
            </a:r>
            <a:r>
              <a:rPr lang="en-US" dirty="0" smtClean="0"/>
              <a:t> variable ordering, </a:t>
            </a:r>
            <a:r>
              <a:rPr lang="en-US" dirty="0" err="1" smtClean="0"/>
              <a:t>param</a:t>
            </a:r>
            <a:r>
              <a:rPr lang="en-US" dirty="0" smtClean="0"/>
              <a:t>, …</a:t>
            </a:r>
          </a:p>
          <a:p>
            <a:pPr lvl="1"/>
            <a:r>
              <a:rPr lang="en-US" dirty="0" smtClean="0"/>
              <a:t>Not shown here, but see paper</a:t>
            </a:r>
          </a:p>
          <a:p>
            <a:r>
              <a:rPr lang="en-US" dirty="0" smtClean="0"/>
              <a:t>Analysis of CVE verification scripts</a:t>
            </a:r>
          </a:p>
          <a:p>
            <a:pPr lvl="1"/>
            <a:r>
              <a:rPr lang="en-US" dirty="0" smtClean="0"/>
              <a:t>N layers of function calls between input parameters and generation of specs</a:t>
            </a:r>
          </a:p>
          <a:p>
            <a:pPr lvl="1"/>
            <a:r>
              <a:rPr lang="en-US" dirty="0" smtClean="0"/>
              <a:t>Much deductive effort toward exposing the specs</a:t>
            </a:r>
          </a:p>
          <a:p>
            <a:pPr lvl="1"/>
            <a:r>
              <a:rPr lang="en-US" dirty="0" smtClean="0"/>
              <a:t>Routine rewriting, also not shown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244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Status and prospects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reFLect</a:t>
            </a:r>
            <a:r>
              <a:rPr lang="en-US" dirty="0" smtClean="0"/>
              <a:t> and </a:t>
            </a:r>
            <a:r>
              <a:rPr lang="en-US" dirty="0" err="1" smtClean="0"/>
              <a:t>rSTE</a:t>
            </a:r>
            <a:r>
              <a:rPr lang="en-US" dirty="0" smtClean="0"/>
              <a:t> are the main workhorses of </a:t>
            </a:r>
            <a:r>
              <a:rPr lang="en-US" dirty="0" err="1" smtClean="0"/>
              <a:t>datapath</a:t>
            </a:r>
            <a:r>
              <a:rPr lang="en-US" dirty="0" smtClean="0"/>
              <a:t> verification across Intel</a:t>
            </a:r>
          </a:p>
          <a:p>
            <a:r>
              <a:rPr lang="en-US" dirty="0" smtClean="0"/>
              <a:t>Frameworks for integer and FP multipliers, FMAs, adders, divide/</a:t>
            </a:r>
            <a:r>
              <a:rPr lang="en-US" dirty="0" err="1" smtClean="0"/>
              <a:t>sqrt</a:t>
            </a:r>
            <a:r>
              <a:rPr lang="en-US" dirty="0" smtClean="0"/>
              <a:t> are widely deployed</a:t>
            </a:r>
          </a:p>
          <a:p>
            <a:r>
              <a:rPr lang="en-US" dirty="0" smtClean="0"/>
              <a:t>Goaled checking of integer multipliers is </a:t>
            </a:r>
            <a:r>
              <a:rPr lang="en-US" dirty="0" smtClean="0"/>
              <a:t>used on </a:t>
            </a:r>
            <a:r>
              <a:rPr lang="en-US" dirty="0" smtClean="0"/>
              <a:t>a mainline design </a:t>
            </a:r>
            <a:r>
              <a:rPr lang="en-US" dirty="0" smtClean="0"/>
              <a:t>project and being pushed to others</a:t>
            </a:r>
            <a:endParaRPr lang="en-US" dirty="0" smtClean="0"/>
          </a:p>
          <a:p>
            <a:r>
              <a:rPr lang="en-US" dirty="0" smtClean="0"/>
              <a:t>We plan to integrate Goaled checking with our other frameworks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466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989</TotalTime>
  <Words>1235</Words>
  <Application>Microsoft Office PowerPoint</Application>
  <PresentationFormat>On-screen Show (4:3)</PresentationFormat>
  <Paragraphs>242</Paragraphs>
  <Slides>23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Relational STE and Theorem Proving for Formal Verification of Industrial Circuit Designs</vt:lpstr>
      <vt:lpstr>CPU datapath verification at Intel</vt:lpstr>
      <vt:lpstr>Scaling up</vt:lpstr>
      <vt:lpstr>Integer multiplier</vt:lpstr>
      <vt:lpstr>The multiplier zoo</vt:lpstr>
      <vt:lpstr>FV challenges</vt:lpstr>
      <vt:lpstr>The solution</vt:lpstr>
      <vt:lpstr>The solution done right</vt:lpstr>
      <vt:lpstr>The solution done right</vt:lpstr>
      <vt:lpstr>The reFLect Language</vt:lpstr>
      <vt:lpstr>Higher Order Logic of reFLect</vt:lpstr>
      <vt:lpstr>Goaled Theorem Prover</vt:lpstr>
      <vt:lpstr>The last bit</vt:lpstr>
      <vt:lpstr>Limitations of STE</vt:lpstr>
      <vt:lpstr>Relational STE</vt:lpstr>
      <vt:lpstr>Relational STE Intuition</vt:lpstr>
      <vt:lpstr>Constraints</vt:lpstr>
      <vt:lpstr>From Relational STE to Logic</vt:lpstr>
      <vt:lpstr>Relational STE in Action</vt:lpstr>
      <vt:lpstr>Relational STE in Action</vt:lpstr>
      <vt:lpstr>Completing a Multiplier proof</vt:lpstr>
      <vt:lpstr>Proof engineering</vt:lpstr>
      <vt:lpstr>Status and prospects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Relational STE and Theorem Proving for Formal Verification of Industrial Circuit Designs</dc:title>
  <dc:creator>O'Leary, John W</dc:creator>
  <cp:lastModifiedBy>joleary</cp:lastModifiedBy>
  <cp:revision>56</cp:revision>
  <dcterms:created xsi:type="dcterms:W3CDTF">2006-08-16T00:00:00Z</dcterms:created>
  <dcterms:modified xsi:type="dcterms:W3CDTF">2013-10-22T17:36:46Z</dcterms:modified>
</cp:coreProperties>
</file>